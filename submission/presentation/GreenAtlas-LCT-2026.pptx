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974d3d83464969" /><Relationship Type="http://schemas.openxmlformats.org/officeDocument/2006/relationships/extended-properties" Target="/docProps/app.xml" Id="R3ee1c529e9874120" /><Relationship Type="http://schemas.openxmlformats.org/officeDocument/2006/relationships/officeDocument" Target="/ppt/presentation.xml" Id="Rba337b01fa7e41c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3c438f6ab3429d"/>
  </p:sldMasterIdLst>
  <p:notesMasterIdLst>
    <p:notesMasterId xmlns:r="http://schemas.openxmlformats.org/officeDocument/2006/relationships" r:id="R6a35c00af8f4497c"/>
  </p:notesMasterIdLst>
  <p:sldIdLst>
    <p:sldId xmlns:r="http://schemas.openxmlformats.org/officeDocument/2006/relationships" id="256" r:id="Ra14bc2e3c10840b8"/>
    <p:sldId xmlns:r="http://schemas.openxmlformats.org/officeDocument/2006/relationships" id="257" r:id="R8a60963a3f7b4c48"/>
    <p:sldId xmlns:r="http://schemas.openxmlformats.org/officeDocument/2006/relationships" id="258" r:id="R63646e0289884e8d"/>
    <p:sldId xmlns:r="http://schemas.openxmlformats.org/officeDocument/2006/relationships" id="259" r:id="R6ca2c5b2d5f741b6"/>
    <p:sldId xmlns:r="http://schemas.openxmlformats.org/officeDocument/2006/relationships" id="260" r:id="R8d3e942c126441ce"/>
    <p:sldId xmlns:r="http://schemas.openxmlformats.org/officeDocument/2006/relationships" id="261" r:id="Rcce1b02a6ca04af6"/>
    <p:sldId xmlns:r="http://schemas.openxmlformats.org/officeDocument/2006/relationships" id="262" r:id="R9edc1b6131864518"/>
    <p:sldId xmlns:r="http://schemas.openxmlformats.org/officeDocument/2006/relationships" id="263" r:id="Racfa615e4a23442e"/>
    <p:sldId xmlns:r="http://schemas.openxmlformats.org/officeDocument/2006/relationships" id="264" r:id="R7201392c658844c7"/>
    <p:sldId xmlns:r="http://schemas.openxmlformats.org/officeDocument/2006/relationships" id="265" r:id="Rb7ad00c67c66457f"/>
    <p:sldId xmlns:r="http://schemas.openxmlformats.org/officeDocument/2006/relationships" id="266" r:id="R648d097b081f4c7f"/>
    <p:sldId xmlns:r="http://schemas.openxmlformats.org/officeDocument/2006/relationships" id="267" r:id="R75dce9ea949c4453"/>
    <p:sldId xmlns:r="http://schemas.openxmlformats.org/officeDocument/2006/relationships" id="268" r:id="Reaad481848dc46c0"/>
    <p:sldId xmlns:r="http://schemas.openxmlformats.org/officeDocument/2006/relationships" id="269" r:id="Rf564d507c3694317"/>
    <p:sldId xmlns:r="http://schemas.openxmlformats.org/officeDocument/2006/relationships" id="270" r:id="R03fcadecdfa146c1"/>
    <p:sldId xmlns:r="http://schemas.openxmlformats.org/officeDocument/2006/relationships" id="271" r:id="R477a1423797a4db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6366db97ef4ec0" /><Relationship Type="http://schemas.openxmlformats.org/officeDocument/2006/relationships/slideMaster" Target="/ppt/slideMasters/slideMaster1.xml" Id="Rc33c438f6ab3429d" /><Relationship Type="http://schemas.openxmlformats.org/officeDocument/2006/relationships/notesMaster" Target="/ppt/notesMasters/notesMaster1.xml" Id="R6a35c00af8f4497c" /><Relationship Type="http://schemas.openxmlformats.org/officeDocument/2006/relationships/presProps" Target="/ppt/presProps.xml" Id="R3dec4a0632ab4009" /><Relationship Type="http://schemas.openxmlformats.org/officeDocument/2006/relationships/tableStyles" Target="/ppt/tableStyles.xml" Id="R26e0e950bd3c435d" /><Relationship Type="http://schemas.openxmlformats.org/officeDocument/2006/relationships/slide" Target="/ppt/slides/slide1.xml" Id="Ra14bc2e3c10840b8" /><Relationship Type="http://schemas.openxmlformats.org/officeDocument/2006/relationships/slide" Target="/ppt/slides/slide2.xml" Id="R8a60963a3f7b4c48" /><Relationship Type="http://schemas.openxmlformats.org/officeDocument/2006/relationships/slide" Target="/ppt/slides/slide3.xml" Id="R63646e0289884e8d" /><Relationship Type="http://schemas.openxmlformats.org/officeDocument/2006/relationships/slide" Target="/ppt/slides/slide4.xml" Id="R6ca2c5b2d5f741b6" /><Relationship Type="http://schemas.openxmlformats.org/officeDocument/2006/relationships/slide" Target="/ppt/slides/slide5.xml" Id="R8d3e942c126441ce" /><Relationship Type="http://schemas.openxmlformats.org/officeDocument/2006/relationships/slide" Target="/ppt/slides/slide6.xml" Id="Rcce1b02a6ca04af6" /><Relationship Type="http://schemas.openxmlformats.org/officeDocument/2006/relationships/slide" Target="/ppt/slides/slide7.xml" Id="R9edc1b6131864518" /><Relationship Type="http://schemas.openxmlformats.org/officeDocument/2006/relationships/slide" Target="/ppt/slides/slide8.xml" Id="Racfa615e4a23442e" /><Relationship Type="http://schemas.openxmlformats.org/officeDocument/2006/relationships/slide" Target="/ppt/slides/slide9.xml" Id="R7201392c658844c7" /><Relationship Type="http://schemas.openxmlformats.org/officeDocument/2006/relationships/slide" Target="/ppt/slides/slide10.xml" Id="Rb7ad00c67c66457f" /><Relationship Type="http://schemas.openxmlformats.org/officeDocument/2006/relationships/slide" Target="/ppt/slides/slide11.xml" Id="R648d097b081f4c7f" /><Relationship Type="http://schemas.openxmlformats.org/officeDocument/2006/relationships/slide" Target="/ppt/slides/slide12.xml" Id="R75dce9ea949c4453" /><Relationship Type="http://schemas.openxmlformats.org/officeDocument/2006/relationships/slide" Target="/ppt/slides/slide13.xml" Id="Reaad481848dc46c0" /><Relationship Type="http://schemas.openxmlformats.org/officeDocument/2006/relationships/slide" Target="/ppt/slides/slide14.xml" Id="Rf564d507c3694317" /><Relationship Type="http://schemas.openxmlformats.org/officeDocument/2006/relationships/slide" Target="/ppt/slides/slide15.xml" Id="R03fcadecdfa146c1" /><Relationship Type="http://schemas.openxmlformats.org/officeDocument/2006/relationships/slide" Target="/ppt/slides/slide16.xml" Id="R477a1423797a4d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53479c6090d4e9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ff84a80de0e4eea" /><Relationship Type="http://schemas.openxmlformats.org/officeDocument/2006/relationships/notesMaster" Target="/ppt/notesMasters/notesMaster1.xml" Id="R69fe5b89822d4d4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0b06146173240a7" /><Relationship Type="http://schemas.openxmlformats.org/officeDocument/2006/relationships/notesMaster" Target="/ppt/notesMasters/notesMaster1.xml" Id="R8335a5b8fa9843b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8b1fe18784c4853" /><Relationship Type="http://schemas.openxmlformats.org/officeDocument/2006/relationships/notesMaster" Target="/ppt/notesMasters/notesMaster1.xml" Id="R9af9fd07230d4bd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b954c0e6b694cf6" /><Relationship Type="http://schemas.openxmlformats.org/officeDocument/2006/relationships/notesMaster" Target="/ppt/notesMasters/notesMaster1.xml" Id="Rd1b6781e0b5c4ce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5a29683244a43f9" /><Relationship Type="http://schemas.openxmlformats.org/officeDocument/2006/relationships/notesMaster" Target="/ppt/notesMasters/notesMaster1.xml" Id="Rd220cbd5981348b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1d26c2b87ae40cc" /><Relationship Type="http://schemas.openxmlformats.org/officeDocument/2006/relationships/notesMaster" Target="/ppt/notesMasters/notesMaster1.xml" Id="R7dd7e27080d840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6e2a27c5a934727" /><Relationship Type="http://schemas.openxmlformats.org/officeDocument/2006/relationships/notesMaster" Target="/ppt/notesMasters/notesMaster1.xml" Id="Reb23ba5c17ea4b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f211bff38f042cc" /><Relationship Type="http://schemas.openxmlformats.org/officeDocument/2006/relationships/notesMaster" Target="/ppt/notesMasters/notesMaster1.xml" Id="Rc81365e6d8c24a8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8516b28f373493f" /><Relationship Type="http://schemas.openxmlformats.org/officeDocument/2006/relationships/notesMaster" Target="/ppt/notesMasters/notesMaster1.xml" Id="R8225c9bc7abc463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26ac51837b4f09" /><Relationship Type="http://schemas.openxmlformats.org/officeDocument/2006/relationships/notesMaster" Target="/ppt/notesMasters/notesMaster1.xml" Id="R22a3487d897a489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ae56615fdc34797" /><Relationship Type="http://schemas.openxmlformats.org/officeDocument/2006/relationships/notesMaster" Target="/ppt/notesMasters/notesMaster1.xml" Id="Rbc312d2841494b8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54c84ee753e44fd" /><Relationship Type="http://schemas.openxmlformats.org/officeDocument/2006/relationships/notesMaster" Target="/ppt/notesMasters/notesMaster1.xml" Id="Re1df7e206677449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3373dc50a384f39" /><Relationship Type="http://schemas.openxmlformats.org/officeDocument/2006/relationships/notesMaster" Target="/ppt/notesMasters/notesMaster1.xml" Id="R7351a46b4abd426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b84c4a776ae4105" /><Relationship Type="http://schemas.openxmlformats.org/officeDocument/2006/relationships/notesMaster" Target="/ppt/notesMasters/notesMaster1.xml" Id="Rbe7a1f4262cc4a3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6c1b1369117405e" /><Relationship Type="http://schemas.openxmlformats.org/officeDocument/2006/relationships/notesMaster" Target="/ppt/notesMasters/notesMaster1.xml" Id="R5cd54e0f6ed8468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15e10d3a1d24f26" /><Relationship Type="http://schemas.openxmlformats.org/officeDocument/2006/relationships/notesMaster" Target="/ppt/notesMasters/notesMaster1.xml" Id="R2924665708d845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слайд 1 сохранён без изменений дизайна. HTML: source/pitch-html/index.html.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Сервис для автоматического</a:t>
            </a:r>
          </a:p>
          <a:p xmlns:a="http://schemas.openxmlformats.org/drawingml/2006/main">
            <a:r>
              <a:t>проектирования озеленения города</a:t>
            </a:r>
          </a:p>
          <a:p xmlns:a="http://schemas.openxmlformats.org/drawingml/2006/main">
            <a:r>
              <a:t>с учётом расположения подземных</a:t>
            </a:r>
          </a:p>
          <a:p xmlns:a="http://schemas.openxmlformats.org/drawingml/2006/main">
            <a:r>
              <a:t>коммуникаций и городской среды</a:t>
            </a:r>
          </a:p>
          <a:p xmlns:a="http://schemas.openxmlformats.org/drawingml/2006/main">
            <a:r>
              <a:t>Проблема</a:t>
            </a:r>
          </a:p>
          <a:p xmlns:a="http://schemas.openxmlformats.org/drawingml/2006/main">
            <a:r>
              <a:t>Объёмный CAD-чертёж сложно</a:t>
            </a:r>
          </a:p>
          <a:p xmlns:a="http://schemas.openxmlformats.org/drawingml/2006/main">
            <a:r>
              <a:t>быстро превратить в план озеленения</a:t>
            </a:r>
          </a:p>
          <a:p xmlns:a="http://schemas.openxmlformats.org/drawingml/2006/main">
            <a:r>
              <a:t>Решение</a:t>
            </a:r>
          </a:p>
          <a:p xmlns:a="http://schemas.openxmlformats.org/drawingml/2006/main">
            <a:r>
              <a:t>Green Atlas подбирает посадки на</a:t>
            </a:r>
          </a:p>
          <a:p xmlns:a="http://schemas.openxmlformats.org/drawingml/2006/main">
            <a:r>
              <a:t>выбранном участке с учётом ограничений</a:t>
            </a:r>
          </a:p>
          <a:p xmlns:a="http://schemas.openxmlformats.org/drawingml/2006/main">
            <a:r>
              <a:t>ЛЦТ 2026 Команда atriune 01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слайд 2 сохранён без изменений дизайна. HTML: source/pitch-html/index.html.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Ограничения участка</a:t>
            </a:r>
          </a:p>
          <a:p xmlns:a="http://schemas.openxmlformats.org/drawingml/2006/main">
            <a:r>
              <a:t>Нормативные отступы</a:t>
            </a:r>
          </a:p>
          <a:p xmlns:a="http://schemas.openxmlformats.org/drawingml/2006/main">
            <a:r>
              <a:t>с учётом типа объекта</a:t>
            </a:r>
          </a:p>
          <a:p xmlns:a="http://schemas.openxmlformats.org/drawingml/2006/main">
            <a:r>
              <a:t>На поверхности</a:t>
            </a:r>
          </a:p>
          <a:p xmlns:a="http://schemas.openxmlformats.org/drawingml/2006/main">
            <a:r>
              <a:t>Здания Дороги Растения</a:t>
            </a:r>
          </a:p>
          <a:p xmlns:a="http://schemas.openxmlformats.org/drawingml/2006/main">
            <a:r>
              <a:t>Инженерные сети</a:t>
            </a:r>
          </a:p>
          <a:p xmlns:a="http://schemas.openxmlformats.org/drawingml/2006/main">
            <a:r>
              <a:t>Газ Водопровод Теплосеть Канализация Дренаж</a:t>
            </a:r>
          </a:p>
          <a:p xmlns:a="http://schemas.openxmlformats.org/drawingml/2006/main">
            <a:r>
              <a:t>Силовой кабель Кабель связи</a:t>
            </a:r>
          </a:p>
          <a:p xmlns:a="http://schemas.openxmlformats.org/drawingml/2006/main">
            <a:r>
              <a:t>СП 42.13330.2016, табл. 9.1</a:t>
            </a:r>
          </a:p>
          <a:p xmlns:a="http://schemas.openxmlformats.org/drawingml/2006/main">
            <a:r>
              <a:t>743-ПП Москвы, табл. 3.6.1</a:t>
            </a:r>
          </a:p>
          <a:p xmlns:a="http://schemas.openxmlformats.org/drawingml/2006/main">
            <a:r>
              <a:t>Здания</a:t>
            </a:r>
          </a:p>
          <a:p xmlns:a="http://schemas.openxmlformats.org/drawingml/2006/main">
            <a:r>
              <a:t>Растения</a:t>
            </a:r>
          </a:p>
          <a:p xmlns:a="http://schemas.openxmlformats.org/drawingml/2006/main">
            <a:r>
              <a:t>Дороги</a:t>
            </a:r>
          </a:p>
          <a:p xmlns:a="http://schemas.openxmlformats.org/drawingml/2006/main">
            <a:r>
              <a:t>Сети</a:t>
            </a:r>
          </a:p>
          <a:p xmlns:a="http://schemas.openxmlformats.org/drawingml/2006/main">
            <a:r>
              <a:t>Нормативы и городские сети Команда atriune 02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Источники: docs/obsidian/03 Модули/Геометрия и нормативы.md. 743-ПП, таблица 3.6.1: https://www.mos.ru/upload/documents/files/7389/Postanovlenie743-PP.pdf</a:t>
            </a:r>
          </a:p>
          <a:p xmlns:a="http://schemas.openxmlformats.org/drawingml/2006/main">
            <a:r>
              <a:t>Указан фактически реализованный профиль СП 42.13330.2016, таблица 9.1. СП 42.13330.2026 действует с 12.07.2026, но ещё не перенесён в расчётный профиль Green Atlas. Не заявлять проверку по редакции 2026 без миграции и проверки требований. Реестр: https://protect.gost.ru/sp/details/f6917ab4-63d8-4ecb-9794-0b4990ba3b99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слайд 3 сохранён без изменений дизайна. HTML: source/pitch-html/index.html.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Чертёж на карте</a:t>
            </a:r>
          </a:p>
          <a:p xmlns:a="http://schemas.openxmlformats.org/drawingml/2006/main">
            <a:r>
              <a:t>Участок для расчёта</a:t>
            </a:r>
          </a:p>
          <a:p xmlns:a="http://schemas.openxmlformats.org/drawingml/2006/main">
            <a:r>
              <a:t>Сложность подоснов</a:t>
            </a:r>
          </a:p>
          <a:p xmlns:a="http://schemas.openxmlformats.org/drawingml/2006/main">
            <a:r>
              <a:t>Пропуски объектов</a:t>
            </a:r>
          </a:p>
          <a:p xmlns:a="http://schemas.openxmlformats.org/drawingml/2006/main">
            <a:r>
              <a:t>и повреждённые контуры</a:t>
            </a:r>
          </a:p>
          <a:p xmlns:a="http://schemas.openxmlformats.org/drawingml/2006/main">
            <a:r>
              <a:t>AutoCAD</a:t>
            </a:r>
          </a:p>
          <a:p xmlns:a="http://schemas.openxmlformats.org/drawingml/2006/main">
            <a:r>
              <a:t>Читает связанные чертежи</a:t>
            </a:r>
          </a:p>
          <a:p xmlns:a="http://schemas.openxmlformats.org/drawingml/2006/main">
            <a:r>
              <a:t>и восстанавливает геометрию</a:t>
            </a:r>
          </a:p>
          <a:p xmlns:a="http://schemas.openxmlformats.org/drawingml/2006/main">
            <a:r>
              <a:t>Green Atlas</a:t>
            </a:r>
          </a:p>
          <a:p xmlns:a="http://schemas.openxmlformats.org/drawingml/2006/main">
            <a:r>
              <a:t>Сохраняет основу</a:t>
            </a:r>
          </a:p>
          <a:p xmlns:a="http://schemas.openxmlformats.org/drawingml/2006/main">
            <a:r>
              <a:t>и рассчитывает посадки локально</a:t>
            </a:r>
          </a:p>
          <a:p xmlns:a="http://schemas.openxmlformats.org/drawingml/2006/main">
            <a:r>
              <a:t>20 м</a:t>
            </a:r>
          </a:p>
          <a:p xmlns:a="http://schemas.openxmlformats.org/drawingml/2006/main">
            <a:r>
              <a:t>Подосновы и карта участка Команда atriune 03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слайд 4 сохранён без изменений дизайна. HTML: source/pitch-html/index.html.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находим места</a:t>
            </a:r>
          </a:p>
          <a:p xmlns:a="http://schemas.openxmlformats.org/drawingml/2006/main">
            <a:r>
              <a:t>01 02 03 04</a:t>
            </a:r>
          </a:p>
          <a:p xmlns:a="http://schemas.openxmlformats.org/drawingml/2006/main">
            <a:r>
              <a:t>Доступная область Размер растения Схема посадок Проверка мест</a:t>
            </a:r>
          </a:p>
          <a:p xmlns:a="http://schemas.openxmlformats.org/drawingml/2006/main">
            <a:r>
              <a:t>Исключаем зоны отступов Учитываем рост растения Размещаем растения Проверяем каждое место</a:t>
            </a:r>
          </a:p>
          <a:p xmlns:a="http://schemas.openxmlformats.org/drawingml/2006/main">
            <a:r>
              <a:t>от зданий, дорог и размеры кроны и корней рядами и группами по нормам и расстояниям</a:t>
            </a:r>
          </a:p>
          <a:p xmlns:a="http://schemas.openxmlformats.org/drawingml/2006/main">
            <a:r>
              <a:t>и инженерных сетей на выбранный срок с заданным шагом до соседних растений</a:t>
            </a:r>
          </a:p>
          <a:p xmlns:a="http://schemas.openxmlformats.org/drawingml/2006/main">
            <a:r>
              <a:t>Единая проверка Горизонт роста</a:t>
            </a:r>
          </a:p>
          <a:p xmlns:a="http://schemas.openxmlformats.org/drawingml/2006/main">
            <a:r>
              <a:t>0–40 лет</a:t>
            </a:r>
          </a:p>
          <a:p xmlns:a="http://schemas.openxmlformats.org/drawingml/2006/main">
            <a:r>
              <a:t>крон и корней</a:t>
            </a:r>
          </a:p>
          <a:p xmlns:a="http://schemas.openxmlformats.org/drawingml/2006/main">
            <a:r>
              <a:t>Одна геометрия и правила для ручной и автоматической посадки</a:t>
            </a:r>
          </a:p>
          <a:p xmlns:a="http://schemas.openxmlformats.org/drawingml/2006/main">
            <a:r>
              <a:t>Алгоритм размещения Команда atriune 04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слайд 5 сохранён без изменений дизайна. HTML: source/pitch-html/index.html.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Подбираем места</a:t>
            </a:r>
          </a:p>
          <a:p xmlns:a="http://schemas.openxmlformats.org/drawingml/2006/main">
            <a:r>
              <a:t>Деревья и кустарники</a:t>
            </a:r>
          </a:p>
          <a:p xmlns:a="http://schemas.openxmlformats.org/drawingml/2006/main">
            <a:r>
              <a:t>Рябина обыкновенная Спирея японская</a:t>
            </a:r>
          </a:p>
          <a:p xmlns:a="http://schemas.openxmlformats.org/drawingml/2006/main">
            <a:r>
              <a:t>20 м</a:t>
            </a:r>
          </a:p>
          <a:p xmlns:a="http://schemas.openxmlformats.org/drawingml/2006/main">
            <a:r>
              <a:t>248 позиций из справочника Москвы Ряды Группы Заполнение</a:t>
            </a:r>
          </a:p>
          <a:p xmlns:a="http://schemas.openxmlformats.org/drawingml/2006/main">
            <a:r>
              <a:t>Сценарий подбора Команда atriune 05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слайд 6 сохранён без изменений дизайна. HTML: source/pitch-html/index.html.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Проверка места</a:t>
            </a:r>
          </a:p>
          <a:p xmlns:a="http://schemas.openxmlformats.org/drawingml/2006/main">
            <a:r>
              <a:t>Кабель связи</a:t>
            </a:r>
          </a:p>
          <a:p xmlns:a="http://schemas.openxmlformats.org/drawingml/2006/main">
            <a:r>
              <a:t>Отступы</a:t>
            </a:r>
          </a:p>
          <a:p xmlns:a="http://schemas.openxmlformats.org/drawingml/2006/main">
            <a:r>
              <a:t>3,61 м</a:t>
            </a:r>
          </a:p>
          <a:p xmlns:a="http://schemas.openxmlformats.org/drawingml/2006/main">
            <a:r>
              <a:t>Расстояние до объекта</a:t>
            </a:r>
          </a:p>
          <a:p xmlns:a="http://schemas.openxmlformats.org/drawingml/2006/main">
            <a:r>
              <a:t>и требование нормы</a:t>
            </a:r>
          </a:p>
          <a:p xmlns:a="http://schemas.openxmlformats.org/drawingml/2006/main">
            <a:r>
              <a:t>Кроны и корни 2 м</a:t>
            </a:r>
          </a:p>
          <a:p xmlns:a="http://schemas.openxmlformats.org/drawingml/2006/main">
            <a:r>
              <a:t>Конфликты роста</a:t>
            </a:r>
          </a:p>
          <a:p xmlns:a="http://schemas.openxmlformats.org/drawingml/2006/main">
            <a:r>
              <a:t>Рябина обыкновенная Уточнить сеть</a:t>
            </a:r>
          </a:p>
          <a:p xmlns:a="http://schemas.openxmlformats.org/drawingml/2006/main">
            <a:r>
              <a:t>на выбранный срок</a:t>
            </a:r>
          </a:p>
          <a:p xmlns:a="http://schemas.openxmlformats.org/drawingml/2006/main">
            <a:r>
              <a:t>Норма: 2 м СП 42, таблица 9.1</a:t>
            </a:r>
          </a:p>
          <a:p xmlns:a="http://schemas.openxmlformats.org/drawingml/2006/main">
            <a:r>
              <a:t>Уточнить роль линии и способ прокладки</a:t>
            </a:r>
          </a:p>
          <a:p xmlns:a="http://schemas.openxmlformats.org/drawingml/2006/main">
            <a:r>
              <a:t>Пропуски объектов Подосновы</a:t>
            </a:r>
          </a:p>
          <a:p xmlns:a="http://schemas.openxmlformats.org/drawingml/2006/main">
            <a:r>
              <a:t>Проверка ограничений Команда atriune 06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слайд 7 сохранён без изменений дизайна. HTML: source/pitch-html/index.html.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Технологии Green Atlas</a:t>
            </a:r>
          </a:p>
          <a:p xmlns:a="http://schemas.openxmlformats.org/drawingml/2006/main">
            <a:r>
              <a:t>Основной стек приложения и интеграции с CAD</a:t>
            </a:r>
          </a:p>
          <a:p xmlns:a="http://schemas.openxmlformats.org/drawingml/2006/main">
            <a:r>
              <a:t>React TypeScript OpenLayers</a:t>
            </a:r>
          </a:p>
          <a:p xmlns:a="http://schemas.openxmlformats.org/drawingml/2006/main">
            <a:r>
              <a:t>Интерфейс выбора участка Логика клиента Карта CAD-слоёв</a:t>
            </a:r>
          </a:p>
          <a:p xmlns:a="http://schemas.openxmlformats.org/drawingml/2006/main">
            <a:r>
              <a:t>и проверки плана и типы данных и геометрии</a:t>
            </a:r>
          </a:p>
          <a:p xmlns:a="http://schemas.openxmlformats.org/drawingml/2006/main">
            <a:r>
              <a:t>Python FastAPI C++</a:t>
            </a:r>
          </a:p>
          <a:p xmlns:a="http://schemas.openxmlformats.org/drawingml/2006/main">
            <a:r>
              <a:t>Алгоритмы подбора Локальное API интерфейса Модуль чтения чертежа</a:t>
            </a:r>
          </a:p>
          <a:p xmlns:a="http://schemas.openxmlformats.org/drawingml/2006/main">
            <a:r>
              <a:t>и проверки посадок и расчётов в AutoCAD</a:t>
            </a:r>
          </a:p>
          <a:p xmlns:a="http://schemas.openxmlformats.org/drawingml/2006/main">
            <a:r>
              <a:t>Технологии приложения Команда atriune 07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слайд 8 сохранён без изменений дизайна. HTML: source/pitch-html/index.html.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3D-стек проекта</a:t>
            </a:r>
          </a:p>
          <a:p xmlns:a="http://schemas.openxmlformats.org/drawingml/2006/main">
            <a:r>
              <a:t>3D 3D + ImageGen</a:t>
            </a:r>
          </a:p>
          <a:p xmlns:a="http://schemas.openxmlformats.org/drawingml/2006/main">
            <a:r>
              <a:t>От интерактивной сцены до финального ракурса</a:t>
            </a:r>
          </a:p>
          <a:p xmlns:a="http://schemas.openxmlformats.org/drawingml/2006/main">
            <a:r>
              <a:t>Three.js glTF glTF Transform</a:t>
            </a:r>
          </a:p>
          <a:p xmlns:a="http://schemas.openxmlformats.org/drawingml/2006/main">
            <a:r>
              <a:t>Интерактивная 3D-сцена Подготовка 3D-моделей</a:t>
            </a:r>
          </a:p>
          <a:p xmlns:a="http://schemas.openxmlformats.org/drawingml/2006/main">
            <a:r>
              <a:t>и выбор ракурса растений</a:t>
            </a:r>
          </a:p>
          <a:p xmlns:a="http://schemas.openxmlformats.org/drawingml/2006/main">
            <a:r>
              <a:t>meshoptimizer Blender / Cycles</a:t>
            </a:r>
          </a:p>
          <a:p xmlns:a="http://schemas.openxmlformats.org/drawingml/2006/main">
            <a:r>
              <a:t>Сжатие геометрии Финальный рендер</a:t>
            </a:r>
          </a:p>
          <a:p xmlns:a="http://schemas.openxmlformats.org/drawingml/2006/main">
            <a:r>
              <a:t>для быстрой загрузки выбранного ракурса</a:t>
            </a:r>
          </a:p>
          <a:p xmlns:a="http://schemas.openxmlformats.org/drawingml/2006/main">
            <a:r>
              <a:t>OpenStreetMap (OSM) Botaniq</a:t>
            </a:r>
          </a:p>
          <a:p xmlns:a="http://schemas.openxmlformats.org/drawingml/2006/main">
            <a:r>
              <a:t>Высота и этажность 3D-модели</a:t>
            </a:r>
          </a:p>
          <a:p xmlns:a="http://schemas.openxmlformats.org/drawingml/2006/main">
            <a:r>
              <a:t>зданий растений</a:t>
            </a:r>
          </a:p>
          <a:p xmlns:a="http://schemas.openxmlformats.org/drawingml/2006/main">
            <a:r>
              <a:t>3D и визуализация Команда atriune 08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слайд 9 сохранён без изменений дизайна. HTML: source/pitch-html/index.html.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Выпуск в AutoCAD</a:t>
            </a:r>
          </a:p>
          <a:p xmlns:a="http://schemas.openxmlformats.org/drawingml/2006/main">
            <a:r>
              <a:t>1</a:t>
            </a:r>
          </a:p>
          <a:p xmlns:a="http://schemas.openxmlformats.org/drawingml/2006/main">
            <a:r>
              <a:t>3</a:t>
            </a:r>
          </a:p>
          <a:p xmlns:a="http://schemas.openxmlformats.org/drawingml/2006/main">
            <a:r>
              <a:t>Из сохранённого плана</a:t>
            </a:r>
          </a:p>
          <a:p xmlns:a="http://schemas.openxmlformats.org/drawingml/2006/main">
            <a:r>
              <a:t>и архива исходного чертежа</a:t>
            </a:r>
          </a:p>
          <a:p xmlns:a="http://schemas.openxmlformats.org/drawingml/2006/main">
            <a:r>
              <a:t>Фоновый AutoCAD</a:t>
            </a:r>
          </a:p>
          <a:p xmlns:a="http://schemas.openxmlformats.org/drawingml/2006/main">
            <a:r>
              <a:t>2</a:t>
            </a:r>
          </a:p>
          <a:p xmlns:a="http://schemas.openxmlformats.org/drawingml/2006/main">
            <a:r>
              <a:t>Добавляет посадки в копию DWG</a:t>
            </a:r>
          </a:p>
          <a:p xmlns:a="http://schemas.openxmlformats.org/drawingml/2006/main">
            <a:r>
              <a:t>10 м и открывает её повторно для проверки</a:t>
            </a:r>
          </a:p>
          <a:p xmlns:a="http://schemas.openxmlformats.org/drawingml/2006/main">
            <a:r>
              <a:t>ZIP-комплект</a:t>
            </a:r>
          </a:p>
          <a:p xmlns:a="http://schemas.openxmlformats.org/drawingml/2006/main">
            <a:r>
              <a:t>№ Растение X, м Y, м</a:t>
            </a:r>
          </a:p>
          <a:p xmlns:a="http://schemas.openxmlformats.org/drawingml/2006/main">
            <a:r>
              <a:t>DWG, доступные подосновы</a:t>
            </a:r>
          </a:p>
          <a:p xmlns:a="http://schemas.openxmlformats.org/drawingml/2006/main">
            <a:r>
              <a:t>1 Рябина обыкновенная 16005.57 -5188.93</a:t>
            </a:r>
          </a:p>
          <a:p xmlns:a="http://schemas.openxmlformats.org/drawingml/2006/main">
            <a:r>
              <a:t>и ведомость растений в CSV</a:t>
            </a:r>
          </a:p>
          <a:p xmlns:a="http://schemas.openxmlformats.org/drawingml/2006/main">
            <a:r>
              <a:t>2 Спирея японская 15977.32 -5144.23</a:t>
            </a:r>
          </a:p>
          <a:p xmlns:a="http://schemas.openxmlformats.org/drawingml/2006/main">
            <a:r>
              <a:t>Проверяем основания выпуска</a:t>
            </a:r>
          </a:p>
          <a:p xmlns:a="http://schemas.openxmlformats.org/drawingml/2006/main">
            <a:r>
              <a:t>3 Рябина обыкновенная 16011.67 -5206.58</a:t>
            </a:r>
          </a:p>
          <a:p xmlns:a="http://schemas.openxmlformats.org/drawingml/2006/main">
            <a:r>
              <a:t>616-ПП 1160-ПП</a:t>
            </a:r>
          </a:p>
          <a:p xmlns:a="http://schemas.openxmlformats.org/drawingml/2006/main">
            <a:r>
              <a:t>CAD и посадочная ведомость Команда atriune 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слайд 10 сохранён без изменений дизайна. HTML: source/pitch-html/index.html.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Скорость обработки</a:t>
            </a:r>
          </a:p>
          <a:p xmlns:a="http://schemas.openxmlformats.org/drawingml/2006/main">
            <a:r>
              <a:t>1,12 58,9 500</a:t>
            </a:r>
          </a:p>
          <a:p xmlns:a="http://schemas.openxmlformats.org/drawingml/2006/main">
            <a:r>
              <a:t>млн тыс</a:t>
            </a:r>
          </a:p>
          <a:p xmlns:a="http://schemas.openxmlformats.org/drawingml/2006/main">
            <a:r>
              <a:t>расчётных объектов объектов ограничений спирей</a:t>
            </a:r>
          </a:p>
          <a:p xmlns:a="http://schemas.openxmlformats.org/drawingml/2006/main">
            <a:r>
              <a:t>3,3 4,8 20</a:t>
            </a:r>
          </a:p>
          <a:p xmlns:a="http://schemas.openxmlformats.org/drawingml/2006/main">
            <a:r>
              <a:t>за мин за с за с</a:t>
            </a:r>
          </a:p>
          <a:p xmlns:a="http://schemas.openxmlformats.org/drawingml/2006/main">
            <a:r>
              <a:t>Подготовка геометрии Расчёт области поиска Полная посадка спиреи</a:t>
            </a:r>
          </a:p>
          <a:p xmlns:a="http://schemas.openxmlformats.org/drawingml/2006/main">
            <a:r>
              <a:t>3-я Парковая Кустанайская Замер команды</a:t>
            </a:r>
          </a:p>
          <a:p xmlns:a="http://schemas.openxmlformats.org/drawingml/2006/main">
            <a:r>
              <a:t>539 слоёв Расчёт по подготовленной 15 000 м²</a:t>
            </a:r>
          </a:p>
          <a:p xmlns:a="http://schemas.openxmlformats.org/drawingml/2006/main">
            <a:r>
              <a:t>1,17 млн объектов исходного CAD геометрии проекта площадь участка</a:t>
            </a:r>
          </a:p>
          <a:p xmlns:a="http://schemas.openxmlformats.org/drawingml/2006/main">
            <a:r>
              <a:t>Скорость обработки Команда atriune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Исходный слайд 11 сохранён без изменений дизайна. HTML: source/pitch-html/index.html.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Пилот</a:t>
            </a:r>
          </a:p>
          <a:p xmlns:a="http://schemas.openxmlformats.org/drawingml/2006/main">
            <a:r>
              <a:t>на участке</a:t>
            </a:r>
          </a:p>
          <a:p xmlns:a="http://schemas.openxmlformats.org/drawingml/2006/main">
            <a:r>
              <a:t>Замерим время и качество</a:t>
            </a:r>
          </a:p>
          <a:p xmlns:a="http://schemas.openxmlformats.org/drawingml/2006/main">
            <a:r>
              <a:t>проверки с проектировщиками</a:t>
            </a:r>
          </a:p>
          <a:p xmlns:a="http://schemas.openxmlformats.org/drawingml/2006/main">
            <a:r>
              <a:t>Артём Корнеев</a:t>
            </a:r>
          </a:p>
          <a:p xmlns:a="http://schemas.openxmlformats.org/drawingml/2006/main">
            <a:r>
              <a:t>Алгоритмы и разработка</a:t>
            </a:r>
          </a:p>
          <a:p xmlns:a="http://schemas.openxmlformats.org/drawingml/2006/main">
            <a:r>
              <a:t>@artem_pow</a:t>
            </a:r>
          </a:p>
          <a:p xmlns:a="http://schemas.openxmlformats.org/drawingml/2006/main">
            <a:r>
              <a:t>Артём Гуцаленко</a:t>
            </a:r>
          </a:p>
          <a:p xmlns:a="http://schemas.openxmlformats.org/drawingml/2006/main">
            <a:r>
              <a:t>Разработка интерфейса</a:t>
            </a:r>
          </a:p>
          <a:p xmlns:a="http://schemas.openxmlformats.org/drawingml/2006/main">
            <a:r>
              <a:t>@yamaysky</a:t>
            </a:r>
          </a:p>
          <a:p xmlns:a="http://schemas.openxmlformats.org/drawingml/2006/main">
            <a:r>
              <a:t>Матвей Сатин</a:t>
            </a:r>
          </a:p>
          <a:p xmlns:a="http://schemas.openxmlformats.org/drawingml/2006/main">
            <a:r>
              <a:t>Product &amp; UX/UI Дизайнер</a:t>
            </a:r>
          </a:p>
          <a:p xmlns:a="http://schemas.openxmlformats.org/drawingml/2006/main">
            <a:r>
              <a:t>@Bl00d1e</a:t>
            </a:r>
          </a:p>
          <a:p xmlns:a="http://schemas.openxmlformats.org/drawingml/2006/main">
            <a:r>
              <a:t>Обсудить пилот ↗</a:t>
            </a:r>
          </a:p>
          <a:p xmlns:a="http://schemas.openxmlformats.org/drawingml/2006/main">
            <a:r>
              <a:t>Пилот на участке Команда atriune 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7 шаблона ЛЦТ 2026. Визуальный ориентир: приложение презентации Билайн команды «В этой хрущёвке нас трое», страницы 9–13. Фоны из сохранённого оригинального шаблона PDF. Контент Green Atlas по CAD-контракту и прежней анкете.</a:t>
            </a:r>
          </a:p>
          <a:p xmlns:a="http://schemas.openxmlformats.org/drawingml/2006/main">
            <a:r>
              <a:t>Телефоны, места учёбы и регион восстановлены из исходной презентации «ЛЦТ 2026», страницы 22–23. Карточки участников компактные и выровнены по центру. Исходные портреты размещены целиком, без нового кропа. Отчества Гуцаленко и Сатина в источниках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8 шаблона ЛЦТ 2026. Визуальный ориентир: приложение презентации Билайн команды «В этой хрущёвке нас трое», страницы 9–13. Фоны из сохранённого оригинального шаблона PDF. Контент Green Atlas по CAD-контракту и прежней анкете.</a:t>
            </a:r>
          </a:p>
          <a:p xmlns:a="http://schemas.openxmlformats.org/drawingml/2006/main">
            <a:r>
              <a:t>Телефоны, места учёбы и регион восстановлены из исходной презентации «ЛЦТ 2026», страницы 22–23. Карточки участников компактные и выровнены по центру. Исходные портреты размещены целиком, без нового кропа. Отчества Гуцаленко и Сатина в источниках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9 шаблона ЛЦТ 2026. Визуальный ориентир: приложение презентации Билайн команды «В этой хрущёвке нас трое», страницы 9–13. Фоны из сохранённого оригинального шаблона PDF. Контент Green Atlas по CAD-контракту и прежней анкете.</a:t>
            </a:r>
          </a:p>
          <a:p xmlns:a="http://schemas.openxmlformats.org/drawingml/2006/main">
            <a:r>
              <a:t>Телефоны, места учёбы и регион восстановлены из исходной презентации «ЛЦТ 2026», страницы 22–23. Карточки участников компактные и выровнены по центру. Исходные портреты размещены целиком, без нового кропа. Отчества Гуцаленко и Сатина в источниках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10 шаблона ЛЦТ 2026. Визуальный ориентир: приложение презентации Билайн команды «В этой хрущёвке нас трое», страницы 9–13. Фоны из сохранённого оригинального шаблона PDF. Контент Green Atlas по CAD-контракту и прежней анкете.</a:t>
            </a:r>
          </a:p>
          <a:p xmlns:a="http://schemas.openxmlformats.org/drawingml/2006/main">
            <a:r>
              <a:t>Телефоны, места учёбы и регион восстановлены из исходной презентации «ЛЦТ 2026», страницы 22–23. Карточки участников компактные и выровнены по центру. Исходные портреты размещены целиком, без нового кропа. Отчества Гуцаленко и Сатина в источниках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11 шаблона ЛЦТ 2026. Визуальный ориентир: приложение презентации Билайн команды «В этой хрущёвке нас трое», страницы 9–13. Фоны из сохранённого оригинального шаблона PDF. Контент Green Atlas по CAD-контракту и прежней анкете.</a:t>
            </a:r>
          </a:p>
          <a:p xmlns:a="http://schemas.openxmlformats.org/drawingml/2006/main">
            <a:r>
              <a:t>Телефоны, места учёбы и регион восстановлены из исходной презентации «ЛЦТ 2026», страницы 22–23. Карточки участников компактные и выровнены по центру. Исходные портреты размещены целиком, без нового кропа. Отчества Гуцаленко и Сатина в источниках отсутствуют.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99dc2deb7043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1a997a02ba47d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ea3239d0de4aa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f3d7fab0ac4451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f3b357229430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d92957173841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3E595481-7A36-4FC1-A948-992C726D98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0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F0CFC21F-E3ED-47F4-826D-2BB0A27A495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08C4B1AB-9AB1-474C-96F3-A82AF1020A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52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07AAE91-0D31-41E8-BE58-B8D493AEDCF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E6D82B8-0384-46D4-85EF-F70B4DDC62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821E81A-060F-4DCF-8633-70E1BC0F15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97D8E58-E6FD-4C7B-A1D2-EDC66A8B2A1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8BBFB815-B214-4B65-9526-064A867314FF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62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309C34-F452-4EE2-8FF2-A5495F7A10E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12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729589C-CDC3-4119-A0CD-7C35F974338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85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66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047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428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09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190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571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952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333750" indent="-285750" algn="l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  <a:defRPr sz="2813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eee7e8f97ab453f" /><Relationship Type="http://schemas.openxmlformats.org/officeDocument/2006/relationships/slideLayout" Target="/ppt/slideLayouts/slideLayout1.xml" Id="R2c156646bc414f07" /><Relationship Type="http://schemas.openxmlformats.org/officeDocument/2006/relationships/slideLayout" Target="/ppt/slideLayouts/slideLayout2.xml" Id="Rd16de14421ee4377" /><Relationship Type="http://schemas.openxmlformats.org/officeDocument/2006/relationships/slideLayout" Target="/ppt/slideLayouts/slideLayout3.xml" Id="R72f9490afbb34136" /><Relationship Type="http://schemas.openxmlformats.org/officeDocument/2006/relationships/slideLayout" Target="/ppt/slideLayouts/slideLayout4.xml" Id="R5ecdc1facaa64759" /><Relationship Type="http://schemas.openxmlformats.org/officeDocument/2006/relationships/slideLayout" Target="/ppt/slideLayouts/slideLayout5.xml" Id="Rc773de7d91694473" /><Relationship Type="http://schemas.openxmlformats.org/officeDocument/2006/relationships/slideLayout" Target="/ppt/slideLayouts/slideLayout6.xml" Id="Read8968d2ea8453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156646bc414f07"/>
    <p:sldLayoutId xmlns:r="http://schemas.openxmlformats.org/officeDocument/2006/relationships" id="2147483650" r:id="Rd16de14421ee4377"/>
    <p:sldLayoutId xmlns:r="http://schemas.openxmlformats.org/officeDocument/2006/relationships" id="2147483651" r:id="R72f9490afbb34136"/>
    <p:sldLayoutId xmlns:r="http://schemas.openxmlformats.org/officeDocument/2006/relationships" id="2147483652" r:id="R5ecdc1facaa64759"/>
    <p:sldLayoutId xmlns:r="http://schemas.openxmlformats.org/officeDocument/2006/relationships" id="2147483653" r:id="Rc773de7d91694473"/>
    <p:sldLayoutId xmlns:r="http://schemas.openxmlformats.org/officeDocument/2006/relationships" id="2147483654" r:id="Read8968d2ea8453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309cfa30bfd4a78" /><Relationship Type="http://schemas.openxmlformats.org/officeDocument/2006/relationships/image" Target="/ppt/media/image.jpeg" Id="R223fd5334ffd4700" /><Relationship Type="http://schemas.openxmlformats.org/officeDocument/2006/relationships/notesSlide" Target="/ppt/notesSlides/notesSlide1.xml" Id="Rd732ae9b32bd4c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4c31b09c7b44f7b" /><Relationship Type="http://schemas.openxmlformats.org/officeDocument/2006/relationships/image" Target="/ppt/media/image2.jpeg" Id="R59fa4bd28c4a4655" /><Relationship Type="http://schemas.openxmlformats.org/officeDocument/2006/relationships/notesSlide" Target="/ppt/notesSlides/notesSlide2.xml" Id="R1b3e09cda45549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9477c08f1664781" /><Relationship Type="http://schemas.openxmlformats.org/officeDocument/2006/relationships/image" Target="/ppt/media/image3.jpeg" Id="R93c83faa87dd4bc7" /><Relationship Type="http://schemas.openxmlformats.org/officeDocument/2006/relationships/notesSlide" Target="/ppt/notesSlides/notesSlide3.xml" Id="Re223c0ae91504c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ddc16bcd64b4ebf" /><Relationship Type="http://schemas.openxmlformats.org/officeDocument/2006/relationships/image" Target="/ppt/media/image4.jpeg" Id="R7fee0b2a8e4f447c" /><Relationship Type="http://schemas.openxmlformats.org/officeDocument/2006/relationships/notesSlide" Target="/ppt/notesSlides/notesSlide4.xml" Id="Ra5cfb92873e54ef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2350cfcb174f7e" /><Relationship Type="http://schemas.openxmlformats.org/officeDocument/2006/relationships/image" Target="/ppt/media/image5.jpeg" Id="Rffdc178703b14fa7" /><Relationship Type="http://schemas.openxmlformats.org/officeDocument/2006/relationships/notesSlide" Target="/ppt/notesSlides/notesSlide5.xml" Id="R4ce70af9bb7740e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78a4bb341594e49" /><Relationship Type="http://schemas.openxmlformats.org/officeDocument/2006/relationships/image" Target="/ppt/media/image6.jpeg" Id="Ra9bbfea5add04cdd" /><Relationship Type="http://schemas.openxmlformats.org/officeDocument/2006/relationships/notesSlide" Target="/ppt/notesSlides/notesSlide6.xml" Id="Re92000d68dbe452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8b045afce741c8" /><Relationship Type="http://schemas.openxmlformats.org/officeDocument/2006/relationships/image" Target="/ppt/media/image7.jpeg" Id="R4c067396e61245ea" /><Relationship Type="http://schemas.openxmlformats.org/officeDocument/2006/relationships/notesSlide" Target="/ppt/notesSlides/notesSlide7.xml" Id="R9b8720bdca224f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be0f4701304136" /><Relationship Type="http://schemas.openxmlformats.org/officeDocument/2006/relationships/image" Target="/ppt/media/image8.jpeg" Id="R84218779cef3467a" /><Relationship Type="http://schemas.openxmlformats.org/officeDocument/2006/relationships/notesSlide" Target="/ppt/notesSlides/notesSlide8.xml" Id="R906961dec26547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e29ad588414ec2" /><Relationship Type="http://schemas.openxmlformats.org/officeDocument/2006/relationships/image" Target="/ppt/media/image9.jpeg" Id="Rfa0fe8d07a664d22" /><Relationship Type="http://schemas.openxmlformats.org/officeDocument/2006/relationships/notesSlide" Target="/ppt/notesSlides/notesSlide9.xml" Id="Ra8180dfb6f734d8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b906178fa4c3c" /><Relationship Type="http://schemas.openxmlformats.org/officeDocument/2006/relationships/image" Target="/ppt/media/image10.jpeg" Id="R3e619a9eec564a8e" /><Relationship Type="http://schemas.openxmlformats.org/officeDocument/2006/relationships/notesSlide" Target="/ppt/notesSlides/notesSlide10.xml" Id="Ree419595dbd343b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bc4b611cecf4abb" /><Relationship Type="http://schemas.openxmlformats.org/officeDocument/2006/relationships/image" Target="/ppt/media/image11.jpeg" Id="Rad09f4b2c3034560" /><Relationship Type="http://schemas.openxmlformats.org/officeDocument/2006/relationships/notesSlide" Target="/ppt/notesSlides/notesSlide11.xml" Id="Rf12d74bd43e142c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e6773fb2e545de" /><Relationship Type="http://schemas.openxmlformats.org/officeDocument/2006/relationships/image" Target="/ppt/media/image12.jpeg" Id="Rc9e30f26e036475a" /><Relationship Type="http://schemas.openxmlformats.org/officeDocument/2006/relationships/image" Target="/ppt/media/image.png" Id="Rb0305679060b488f" /><Relationship Type="http://schemas.openxmlformats.org/officeDocument/2006/relationships/notesSlide" Target="/ppt/notesSlides/notesSlide12.xml" Id="R5ec27a2317bb45e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3c58d2a459465e" /><Relationship Type="http://schemas.openxmlformats.org/officeDocument/2006/relationships/image" Target="/ppt/media/image13.jpeg" Id="R407d8d54680f4274" /><Relationship Type="http://schemas.openxmlformats.org/officeDocument/2006/relationships/image" Target="/ppt/media/image14.jpeg" Id="R63b49770c0924561" /><Relationship Type="http://schemas.openxmlformats.org/officeDocument/2006/relationships/notesSlide" Target="/ppt/notesSlides/notesSlide13.xml" Id="R7303166adcf64189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f3fc0c45744df4" /><Relationship Type="http://schemas.openxmlformats.org/officeDocument/2006/relationships/image" Target="/ppt/media/image15.jpeg" Id="R9829681f1d5c4e27" /><Relationship Type="http://schemas.openxmlformats.org/officeDocument/2006/relationships/image" Target="/ppt/media/image2.png" Id="Rf5858536f7274f73" /><Relationship Type="http://schemas.openxmlformats.org/officeDocument/2006/relationships/image" Target="/ppt/media/image3.png" Id="R4b0557d417ac4904" /><Relationship Type="http://schemas.openxmlformats.org/officeDocument/2006/relationships/image" Target="/ppt/media/image4.png" Id="Ree5fee7dd85b4af8" /><Relationship Type="http://schemas.openxmlformats.org/officeDocument/2006/relationships/notesSlide" Target="/ppt/notesSlides/notesSlide14.xml" Id="R05c8c78132a045a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0db578df7f48f1" /><Relationship Type="http://schemas.openxmlformats.org/officeDocument/2006/relationships/image" Target="/ppt/media/image16.jpeg" Id="R272ad71659d54960" /><Relationship Type="http://schemas.openxmlformats.org/officeDocument/2006/relationships/notesSlide" Target="/ppt/notesSlides/notesSlide15.xml" Id="Rc9b1be1cca574b2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107c49c8d804300" /><Relationship Type="http://schemas.openxmlformats.org/officeDocument/2006/relationships/image" Target="/ppt/media/image17.jpeg" Id="Rc8f0dc84d51041fa" /><Relationship Type="http://schemas.openxmlformats.org/officeDocument/2006/relationships/notesSlide" Target="/ppt/notesSlides/notesSlide16.xml" Id="R0025a1b1895b48d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D9E582-58C1-416F-BB45-DE69D4AD1B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3fd5334ffd470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3196743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190FA-A9F1-4675-A6A7-47D57BA2E98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fa4bd28c4a4655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0669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E74315-EDB0-40A3-B2C4-E985D7A88A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c83faa87dd4bc7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898994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1E4580-E42C-4DE8-88AD-6A1649EE203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ee0b2a8e4f447c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83342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A1729-20CB-4928-A61B-1EDF1B0EF1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dc178703b14fa7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61075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C28D31-0FD1-4BCB-8C28-0554F8DAF0E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bfea5add04cdd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7860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435895-AF39-40AF-B089-C1C3B18065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067396e61245e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28686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7ED8A1-56F7-4011-8893-FD9CEEBFBA1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218779cef3467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65561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AF7D34-5FEE-4636-9113-D29A868738D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0fe8d07a664d22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27607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F637A7-39A1-49B9-9070-8FA2CCEB44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619a9eec564a8e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5057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3412DC-7E14-4F2D-B2AC-139B2C19D1A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9f4b2c303456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9572584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E17FE5-327C-45B9-B7A6-24ECB93FFEB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e30f26e036475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F033B2-B34D-47A7-8D3E-BD5B5A10DF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05679060b488f"/>
          <a:stretch xmlns:a="http://schemas.openxmlformats.org/drawingml/2006/main"/>
        </p:blipFill>
        <p:spPr>
          <a:xfrm xmlns:a="http://schemas.openxmlformats.org/drawingml/2006/main">
            <a:off x="530591" y="419100"/>
            <a:ext cx="1701067" cy="666750"/>
          </a:xfrm>
          <a:prstGeom xmlns:a="http://schemas.openxmlformats.org/drawingml/2006/main" prst="rect">
            <a:avLst/>
          </a:prstGeom>
        </p:spPr>
      </p:pic>
      <p:sp>
        <p:nvSpPr>
          <p:cNvPr id="3" name="КОМАНДА ATRIUNE">
            <a:extLst xmlns:a="http://schemas.openxmlformats.org/drawingml/2006/main">
              <a:ext uri="{FF2B5EF4-FFF2-40B4-BE49-F238E27FC236}">
                <a16:creationId xmlns:a16="http://schemas.microsoft.com/office/drawing/2014/main" id="{640518FB-17CD-4F19-87D3-0C6453D4D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543425"/>
            <a:ext cx="13956506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60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ATRIUNE</a:t>
            </a:r>
          </a:p>
        </p:txBody>
      </p:sp>
      <p:sp>
        <p:nvSpPr>
          <p:cNvPr id="4" name="Задача № 3">
            <a:extLst xmlns:a="http://schemas.openxmlformats.org/drawingml/2006/main">
              <a:ext uri="{FF2B5EF4-FFF2-40B4-BE49-F238E27FC236}">
                <a16:creationId xmlns:a16="http://schemas.microsoft.com/office/drawing/2014/main" id="{06F56CDF-587D-437D-8CC3-20353FDC4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6583680"/>
            <a:ext cx="13956506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Задача № 3</a:t>
            </a:r>
          </a:p>
        </p:txBody>
      </p:sp>
      <p:sp>
        <p:nvSpPr>
          <p:cNvPr id="5" name="Сервис для автоматического проектирования озеленения города">
            <a:extLst xmlns:a="http://schemas.openxmlformats.org/drawingml/2006/main">
              <a:ext uri="{FF2B5EF4-FFF2-40B4-BE49-F238E27FC236}">
                <a16:creationId xmlns:a16="http://schemas.microsoft.com/office/drawing/2014/main" id="{6BAEFEE8-C388-4ADA-BE22-05290432F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136130"/>
            <a:ext cx="14194631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Сервис для автоматического проектирования озеленения города</a:t>
            </a:r>
          </a:p>
        </p:txBody>
      </p:sp>
      <p:sp>
        <p:nvSpPr>
          <p:cNvPr id="6" name="с учётом расположения подземных коммуникаций и городской среды">
            <a:extLst xmlns:a="http://schemas.openxmlformats.org/drawingml/2006/main">
              <a:ext uri="{FF2B5EF4-FFF2-40B4-BE49-F238E27FC236}">
                <a16:creationId xmlns:a16="http://schemas.microsoft.com/office/drawing/2014/main" id="{E8E92B3D-BB4C-44A6-8DFD-96734A53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7412355"/>
            <a:ext cx="14194631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9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 учётом расположения подземных коммуникаций и городской среды</a:t>
            </a:r>
          </a:p>
        </p:txBody>
      </p:sp>
    </p:spTree>
    <p:extLst>
      <p:ext uri="{BB962C8B-B14F-4D97-AF65-F5344CB8AC3E}">
        <p14:creationId xmlns:p14="http://schemas.microsoft.com/office/powerpoint/2010/main" val="120832595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4DEA543-00F1-465B-88D9-5D7B44A2996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7d8d54680f4274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0F7EDB-353C-49AA-8CFD-FF4E49C0C16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b49770c0924561"/>
          <a:stretch xmlns:a="http://schemas.openxmlformats.org/drawingml/2006/main"/>
        </p:blipFill>
        <p:spPr>
          <a:xfrm xmlns:a="http://schemas.openxmlformats.org/drawingml/2006/main">
            <a:off x="0" y="0"/>
            <a:ext cx="8153400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D8888A-03F1-420D-892B-1C4A964A8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714750"/>
            <a:ext cx="8153400" cy="485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DE9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10B9BDA-1DA5-452B-B971-4EA8D4C2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314825"/>
            <a:ext cx="7124700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20978"/>
            </a:solidFill>
          </a:ln>
        </p:spPr>
      </p:sp>
      <p:sp>
        <p:nvSpPr>
          <p:cNvPr id="5" name="О команде">
            <a:extLst xmlns:a="http://schemas.openxmlformats.org/drawingml/2006/main">
              <a:ext uri="{FF2B5EF4-FFF2-40B4-BE49-F238E27FC236}">
                <a16:creationId xmlns:a16="http://schemas.microsoft.com/office/drawing/2014/main" id="{2B21649A-278E-4CF0-BBF8-F60E9904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99598"/>
            <a:ext cx="7069931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 команде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4506B0-4D18-48A4-BCA6-2643D6778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038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961A95-77AA-4992-B865-A74BB371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686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BAEB72-3A59-46D1-AD2C-88B040DAE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029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F13A6E-206B-46E0-B022-212B6D56C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1532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882685-4A11-48E8-AA7D-D06088AC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686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11" name="Капитан:">
            <a:extLst xmlns:a="http://schemas.openxmlformats.org/drawingml/2006/main">
              <a:ext uri="{FF2B5EF4-FFF2-40B4-BE49-F238E27FC236}">
                <a16:creationId xmlns:a16="http://schemas.microsoft.com/office/drawing/2014/main" id="{463FB51C-45A3-4CDC-AEB6-B8FF1E2DD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912995"/>
            <a:ext cx="68603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Капитан:</a:t>
            </a:r>
          </a:p>
        </p:txBody>
      </p:sp>
      <p:sp>
        <p:nvSpPr>
          <p:cNvPr id="12" name="Корнеев Артём Алексеевич">
            <a:extLst xmlns:a="http://schemas.openxmlformats.org/drawingml/2006/main">
              <a:ext uri="{FF2B5EF4-FFF2-40B4-BE49-F238E27FC236}">
                <a16:creationId xmlns:a16="http://schemas.microsoft.com/office/drawing/2014/main" id="{24831B14-BFD0-4C68-8FCF-CC1EB8472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2978" y="4912995"/>
            <a:ext cx="569177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Корнеев Артём Алексеевич</a:t>
            </a:r>
          </a:p>
        </p:txBody>
      </p:sp>
      <p:sp>
        <p:nvSpPr>
          <p:cNvPr id="13" name="Алгоритмы и backend">
            <a:extLst xmlns:a="http://schemas.openxmlformats.org/drawingml/2006/main">
              <a:ext uri="{FF2B5EF4-FFF2-40B4-BE49-F238E27FC236}">
                <a16:creationId xmlns:a16="http://schemas.microsoft.com/office/drawing/2014/main" id="{CADFDC36-AE01-46D4-B1E1-DD998A52B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223510"/>
            <a:ext cx="68603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Алгоритмы и backend</a:t>
            </a:r>
          </a:p>
        </p:txBody>
      </p:sp>
      <p:sp>
        <p:nvSpPr>
          <p:cNvPr id="14" name="Кол-во участников:">
            <a:extLst xmlns:a="http://schemas.openxmlformats.org/drawingml/2006/main">
              <a:ext uri="{FF2B5EF4-FFF2-40B4-BE49-F238E27FC236}">
                <a16:creationId xmlns:a16="http://schemas.microsoft.com/office/drawing/2014/main" id="{789E6F6A-F6F3-41E4-A5E7-0C3AFB9CA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560695"/>
            <a:ext cx="68603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Кол-во участников:</a:t>
            </a:r>
          </a:p>
        </p:txBody>
      </p:sp>
      <p:sp>
        <p:nvSpPr>
          <p:cNvPr id="15" name="3 человека">
            <a:extLst xmlns:a="http://schemas.openxmlformats.org/drawingml/2006/main">
              <a:ext uri="{FF2B5EF4-FFF2-40B4-BE49-F238E27FC236}">
                <a16:creationId xmlns:a16="http://schemas.microsoft.com/office/drawing/2014/main" id="{CF2AAAC8-A6CF-4AAD-82A8-9178B5F23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3771" y="5560695"/>
            <a:ext cx="438098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3 человека</a:t>
            </a:r>
          </a:p>
        </p:txBody>
      </p:sp>
      <p:sp>
        <p:nvSpPr>
          <p:cNvPr id="16" name="Краткое описание:">
            <a:extLst xmlns:a="http://schemas.openxmlformats.org/drawingml/2006/main">
              <a:ext uri="{FF2B5EF4-FFF2-40B4-BE49-F238E27FC236}">
                <a16:creationId xmlns:a16="http://schemas.microsoft.com/office/drawing/2014/main" id="{889BC3AB-C625-42BA-8A71-4F8E22A0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903595"/>
            <a:ext cx="68603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Краткое описание:</a:t>
            </a:r>
          </a:p>
        </p:txBody>
      </p:sp>
      <p:sp>
        <p:nvSpPr>
          <p:cNvPr id="17" name="Познакомились ещё в школе. Вместе делали заказные">
            <a:extLst xmlns:a="http://schemas.openxmlformats.org/drawingml/2006/main">
              <a:ext uri="{FF2B5EF4-FFF2-40B4-BE49-F238E27FC236}">
                <a16:creationId xmlns:a16="http://schemas.microsoft.com/office/drawing/2014/main" id="{95EA53AE-1A42-4112-8CF9-FDC193650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265545"/>
            <a:ext cx="68603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Познакомились ещё в школе. Вместе делали заказные</a:t>
            </a:r>
          </a:p>
        </p:txBody>
      </p:sp>
      <p:sp>
        <p:nvSpPr>
          <p:cNvPr id="18" name="проекты и собственные веб-сервисы.">
            <a:extLst xmlns:a="http://schemas.openxmlformats.org/drawingml/2006/main">
              <a:ext uri="{FF2B5EF4-FFF2-40B4-BE49-F238E27FC236}">
                <a16:creationId xmlns:a16="http://schemas.microsoft.com/office/drawing/2014/main" id="{7B8401A0-2777-4E7E-9BB1-2574812FB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6570345"/>
            <a:ext cx="68603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1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проекты и собственные веб-сервисы.</a:t>
            </a:r>
          </a:p>
        </p:txBody>
      </p:sp>
      <p:sp>
        <p:nvSpPr>
          <p:cNvPr id="19" name="Учёба:">
            <a:extLst xmlns:a="http://schemas.openxmlformats.org/drawingml/2006/main">
              <a:ext uri="{FF2B5EF4-FFF2-40B4-BE49-F238E27FC236}">
                <a16:creationId xmlns:a16="http://schemas.microsoft.com/office/drawing/2014/main" id="{929F405B-6100-48CD-B579-9A6072566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027545"/>
            <a:ext cx="68603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Учёба:</a:t>
            </a:r>
          </a:p>
        </p:txBody>
      </p:sp>
      <p:sp>
        <p:nvSpPr>
          <p:cNvPr id="20" name="Колледж «Коломна», НИУ МИЭТ, РТУ МИРЭА">
            <a:extLst xmlns:a="http://schemas.openxmlformats.org/drawingml/2006/main">
              <a:ext uri="{FF2B5EF4-FFF2-40B4-BE49-F238E27FC236}">
                <a16:creationId xmlns:a16="http://schemas.microsoft.com/office/drawing/2014/main" id="{B24F2B3D-990B-4BD5-8ACA-A186A417C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8313" y="7042785"/>
            <a:ext cx="5986443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Колледж «Коломна», НИУ МИЭТ, РТУ МИРЭА</a:t>
            </a:r>
          </a:p>
        </p:txBody>
      </p:sp>
      <p:sp>
        <p:nvSpPr>
          <p:cNvPr id="21" name="Город и регион:">
            <a:extLst xmlns:a="http://schemas.openxmlformats.org/drawingml/2006/main">
              <a:ext uri="{FF2B5EF4-FFF2-40B4-BE49-F238E27FC236}">
                <a16:creationId xmlns:a16="http://schemas.microsoft.com/office/drawing/2014/main" id="{31AD5B0B-0631-4BB9-B2D1-92505E308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7560945"/>
            <a:ext cx="68603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Город и регион:</a:t>
            </a:r>
          </a:p>
        </p:txBody>
      </p:sp>
      <p:sp>
        <p:nvSpPr>
          <p:cNvPr id="22" name="Москва и Московская область">
            <a:extLst xmlns:a="http://schemas.openxmlformats.org/drawingml/2006/main">
              <a:ext uri="{FF2B5EF4-FFF2-40B4-BE49-F238E27FC236}">
                <a16:creationId xmlns:a16="http://schemas.microsoft.com/office/drawing/2014/main" id="{D3A1648D-B3C3-47A9-9FD5-5FBED9B87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7719" y="7560945"/>
            <a:ext cx="4797038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Москва и Московская область</a:t>
            </a:r>
          </a:p>
        </p:txBody>
      </p:sp>
      <p:sp>
        <p:nvSpPr>
          <p:cNvPr id="23" name="КОМАНДА">
            <a:extLst xmlns:a="http://schemas.openxmlformats.org/drawingml/2006/main">
              <a:ext uri="{FF2B5EF4-FFF2-40B4-BE49-F238E27FC236}">
                <a16:creationId xmlns:a16="http://schemas.microsoft.com/office/drawing/2014/main" id="{B0E288B3-C5F9-45E8-878C-3AB5A891C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00150"/>
            <a:ext cx="605075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КОМАНДА</a:t>
            </a:r>
          </a:p>
        </p:txBody>
      </p:sp>
      <p:sp>
        <p:nvSpPr>
          <p:cNvPr id="24" name="«ATRIUNE»">
            <a:extLst xmlns:a="http://schemas.openxmlformats.org/drawingml/2006/main">
              <a:ext uri="{FF2B5EF4-FFF2-40B4-BE49-F238E27FC236}">
                <a16:creationId xmlns:a16="http://schemas.microsoft.com/office/drawing/2014/main" id="{A5714409-0518-405B-A1E3-1D0300125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619250"/>
            <a:ext cx="6050756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30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«ATRIUNE»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914C87D-4C67-4CCD-A222-2F44A4B0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800350"/>
            <a:ext cx="60864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20978"/>
            </a:solidFill>
          </a:ln>
        </p:spPr>
      </p:sp>
      <p:sp>
        <p:nvSpPr>
          <p:cNvPr id="26" name="Краткое описание решения:">
            <a:extLst xmlns:a="http://schemas.openxmlformats.org/drawingml/2006/main">
              <a:ext uri="{FF2B5EF4-FFF2-40B4-BE49-F238E27FC236}">
                <a16:creationId xmlns:a16="http://schemas.microsoft.com/office/drawing/2014/main" id="{B836E09B-C465-492E-9CEB-FBBAF81F8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913698"/>
            <a:ext cx="6050756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Краткое описание решения:</a:t>
            </a:r>
          </a:p>
        </p:txBody>
      </p:sp>
      <p:sp>
        <p:nvSpPr>
          <p:cNvPr id="27" name="Green Atlas помогает проектировщику выбрать">
            <a:extLst xmlns:a="http://schemas.openxmlformats.org/drawingml/2006/main">
              <a:ext uri="{FF2B5EF4-FFF2-40B4-BE49-F238E27FC236}">
                <a16:creationId xmlns:a16="http://schemas.microsoft.com/office/drawing/2014/main" id="{90C798CB-8C05-4BD5-818E-F1B6A2555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312795"/>
            <a:ext cx="605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Green Atlas помогает проектировщику выбрать</a:t>
            </a:r>
          </a:p>
        </p:txBody>
      </p:sp>
      <p:sp>
        <p:nvSpPr>
          <p:cNvPr id="28" name="места для деревьев и кустарников на чертеже.">
            <a:extLst xmlns:a="http://schemas.openxmlformats.org/drawingml/2006/main">
              <a:ext uri="{FF2B5EF4-FFF2-40B4-BE49-F238E27FC236}">
                <a16:creationId xmlns:a16="http://schemas.microsoft.com/office/drawing/2014/main" id="{7865A5AC-6D12-4B4D-85B0-B4AD2D01E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579495"/>
            <a:ext cx="605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места для деревьев и кустарников на чертеже.</a:t>
            </a:r>
          </a:p>
        </p:txBody>
      </p:sp>
      <p:sp>
        <p:nvSpPr>
          <p:cNvPr id="29" name="Учитывает здания, дороги, существующее">
            <a:extLst xmlns:a="http://schemas.openxmlformats.org/drawingml/2006/main">
              <a:ext uri="{FF2B5EF4-FFF2-40B4-BE49-F238E27FC236}">
                <a16:creationId xmlns:a16="http://schemas.microsoft.com/office/drawing/2014/main" id="{5FA27FB2-4088-4511-B225-C0E224EC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846195"/>
            <a:ext cx="605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Учитывает здания, дороги, существующее</a:t>
            </a:r>
          </a:p>
        </p:txBody>
      </p:sp>
      <p:sp>
        <p:nvSpPr>
          <p:cNvPr id="30" name="озеленение и инженерные сети. Проверяет">
            <a:extLst xmlns:a="http://schemas.openxmlformats.org/drawingml/2006/main">
              <a:ext uri="{FF2B5EF4-FFF2-40B4-BE49-F238E27FC236}">
                <a16:creationId xmlns:a16="http://schemas.microsoft.com/office/drawing/2014/main" id="{D849D2BB-BA64-4285-B978-8F3DA6FF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12895"/>
            <a:ext cx="605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озеленение и инженерные сети. Проверяет</a:t>
            </a:r>
          </a:p>
        </p:txBody>
      </p:sp>
      <p:sp>
        <p:nvSpPr>
          <p:cNvPr id="31" name="отступы по нормам и выпускает план в AutoCAD.">
            <a:extLst xmlns:a="http://schemas.openxmlformats.org/drawingml/2006/main">
              <a:ext uri="{FF2B5EF4-FFF2-40B4-BE49-F238E27FC236}">
                <a16:creationId xmlns:a16="http://schemas.microsoft.com/office/drawing/2014/main" id="{3D06E13F-E8B7-4B7C-A2E9-19C8C54D1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379595"/>
            <a:ext cx="605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отступы по нормам и выпускает план в AutoCAD.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2E4D951-AE45-4AAF-AFA3-399E6F397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5543550"/>
            <a:ext cx="60864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520978"/>
            </a:solidFill>
          </a:ln>
        </p:spPr>
      </p:sp>
      <p:sp>
        <p:nvSpPr>
          <p:cNvPr id="33" name="Уникальность решения:">
            <a:extLst xmlns:a="http://schemas.openxmlformats.org/drawingml/2006/main">
              <a:ext uri="{FF2B5EF4-FFF2-40B4-BE49-F238E27FC236}">
                <a16:creationId xmlns:a16="http://schemas.microsoft.com/office/drawing/2014/main" id="{B5A47F0F-9A38-4A1C-81ED-2CD671F7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5723573"/>
            <a:ext cx="6050756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Уникальность решения:</a:t>
            </a:r>
          </a:p>
        </p:txBody>
      </p:sp>
      <p:sp>
        <p:nvSpPr>
          <p:cNvPr id="34" name="Ручная и автоматическая посадка работают">
            <a:extLst xmlns:a="http://schemas.openxmlformats.org/drawingml/2006/main">
              <a:ext uri="{FF2B5EF4-FFF2-40B4-BE49-F238E27FC236}">
                <a16:creationId xmlns:a16="http://schemas.microsoft.com/office/drawing/2014/main" id="{2FE60F18-1698-40C5-95FE-3454CB14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122670"/>
            <a:ext cx="605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Ручная и автоматическая посадка работают</a:t>
            </a:r>
          </a:p>
        </p:txBody>
      </p:sp>
      <p:sp>
        <p:nvSpPr>
          <p:cNvPr id="35" name="с одной геометрией и правилами. Проверяем">
            <a:extLst xmlns:a="http://schemas.openxmlformats.org/drawingml/2006/main">
              <a:ext uri="{FF2B5EF4-FFF2-40B4-BE49-F238E27FC236}">
                <a16:creationId xmlns:a16="http://schemas.microsoft.com/office/drawing/2014/main" id="{CA3D6F87-8249-458B-8EAF-F2F9FB7DC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389370"/>
            <a:ext cx="605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 одной геометрией и правилами. Проверяем</a:t>
            </a:r>
          </a:p>
        </p:txBody>
      </p:sp>
      <p:sp>
        <p:nvSpPr>
          <p:cNvPr id="36" name="рост крон и корней на выбранный срок. Для">
            <a:extLst xmlns:a="http://schemas.openxmlformats.org/drawingml/2006/main">
              <a:ext uri="{FF2B5EF4-FFF2-40B4-BE49-F238E27FC236}">
                <a16:creationId xmlns:a16="http://schemas.microsoft.com/office/drawing/2014/main" id="{8941D32A-EBCA-4460-A2B0-BA59F3BBA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656070"/>
            <a:ext cx="605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рост крон и корней на выбранный срок. Для</a:t>
            </a:r>
          </a:p>
        </p:txBody>
      </p:sp>
      <p:sp>
        <p:nvSpPr>
          <p:cNvPr id="37" name="отступов показываем пункт нормы. Пропуски">
            <a:extLst xmlns:a="http://schemas.openxmlformats.org/drawingml/2006/main">
              <a:ext uri="{FF2B5EF4-FFF2-40B4-BE49-F238E27FC236}">
                <a16:creationId xmlns:a16="http://schemas.microsoft.com/office/drawing/2014/main" id="{788F1B9E-EF45-4F36-B20B-96A9F35D1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6922770"/>
            <a:ext cx="605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отступов показываем пункт нормы. Пропуски</a:t>
            </a:r>
          </a:p>
        </p:txBody>
      </p:sp>
      <p:sp>
        <p:nvSpPr>
          <p:cNvPr id="38" name="данных остаются адресными замечаниями.">
            <a:extLst xmlns:a="http://schemas.openxmlformats.org/drawingml/2006/main">
              <a:ext uri="{FF2B5EF4-FFF2-40B4-BE49-F238E27FC236}">
                <a16:creationId xmlns:a16="http://schemas.microsoft.com/office/drawing/2014/main" id="{B0800FBC-18ED-48B4-90F3-7F7B4938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7189470"/>
            <a:ext cx="605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данных остаются адресными замечаниями.</a:t>
            </a:r>
          </a:p>
        </p:txBody>
      </p:sp>
      <p:sp>
        <p:nvSpPr>
          <p:cNvPr id="39" name="2">
            <a:extLst xmlns:a="http://schemas.openxmlformats.org/drawingml/2006/main">
              <a:ext uri="{FF2B5EF4-FFF2-40B4-BE49-F238E27FC236}">
                <a16:creationId xmlns:a16="http://schemas.microsoft.com/office/drawing/2014/main" id="{2B6ED580-B64C-475F-AC04-3B5395280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8001000"/>
            <a:ext cx="3357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926850716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020E766-36DF-44F9-AE4C-AF273C7627D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29681f1d5c4e27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406915-A265-4881-9E59-915006CE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9575"/>
            <a:ext cx="4526718" cy="771525"/>
          </a:xfrm>
          <a:prstGeom xmlns:a="http://schemas.openxmlformats.org/drawingml/2006/main" prst="roundRect">
            <a:avLst>
              <a:gd name="adj" fmla="val 19753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3" name="КОМАНДА «ATRIUNE»">
            <a:extLst xmlns:a="http://schemas.openxmlformats.org/drawingml/2006/main">
              <a:ext uri="{FF2B5EF4-FFF2-40B4-BE49-F238E27FC236}">
                <a16:creationId xmlns:a16="http://schemas.microsoft.com/office/drawing/2014/main" id="{3FA61B45-6460-40AC-8A8F-51908B069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"/>
            <a:ext cx="3862349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«ATRIUNE»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7910AC-1539-4BC8-A6BB-443FDE181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905000"/>
            <a:ext cx="3238500" cy="58293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28D54B-321B-41E8-901B-A31B3528A68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858536f7274f73"/>
          <a:stretch xmlns:a="http://schemas.openxmlformats.org/drawingml/2006/main"/>
        </p:blipFill>
        <p:spPr>
          <a:xfrm xmlns:a="http://schemas.openxmlformats.org/drawingml/2006/main">
            <a:off x="2934260" y="2209800"/>
            <a:ext cx="2437279" cy="2209800"/>
          </a:xfrm>
          <a:prstGeom xmlns:a="http://schemas.openxmlformats.org/drawingml/2006/main" prst="rect">
            <a:avLst/>
          </a:prstGeom>
        </p:spPr>
      </p:pic>
      <p:sp>
        <p:nvSpPr>
          <p:cNvPr id="6" name="Артём">
            <a:extLst xmlns:a="http://schemas.openxmlformats.org/drawingml/2006/main">
              <a:ext uri="{FF2B5EF4-FFF2-40B4-BE49-F238E27FC236}">
                <a16:creationId xmlns:a16="http://schemas.microsoft.com/office/drawing/2014/main" id="{84F34F6C-5F76-4985-B9FD-C6CAF6A0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571048"/>
            <a:ext cx="2593181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Артём</a:t>
            </a:r>
          </a:p>
        </p:txBody>
      </p:sp>
      <p:sp>
        <p:nvSpPr>
          <p:cNvPr id="7" name="Корнеев">
            <a:extLst xmlns:a="http://schemas.openxmlformats.org/drawingml/2006/main">
              <a:ext uri="{FF2B5EF4-FFF2-40B4-BE49-F238E27FC236}">
                <a16:creationId xmlns:a16="http://schemas.microsoft.com/office/drawing/2014/main" id="{8DC54F39-FA8C-4586-ABF1-90CF96330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856798"/>
            <a:ext cx="2593181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Корнеев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37F316-01DF-4CCF-A10F-1876FE1E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5486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9" name="Капитан, алгоритмы">
            <a:extLst xmlns:a="http://schemas.openxmlformats.org/drawingml/2006/main">
              <a:ext uri="{FF2B5EF4-FFF2-40B4-BE49-F238E27FC236}">
                <a16:creationId xmlns:a16="http://schemas.microsoft.com/office/drawing/2014/main" id="{DF498621-4B74-496E-AD46-EB6894501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5686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Капитан, алгоритмы</a:t>
            </a:r>
          </a:p>
        </p:txBody>
      </p:sp>
      <p:sp>
        <p:nvSpPr>
          <p:cNvPr id="10" name="и backend">
            <a:extLst xmlns:a="http://schemas.openxmlformats.org/drawingml/2006/main">
              <a:ext uri="{FF2B5EF4-FFF2-40B4-BE49-F238E27FC236}">
                <a16:creationId xmlns:a16="http://schemas.microsoft.com/office/drawing/2014/main" id="{606CC66C-33D8-4B0B-BD15-117CE5133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0451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340A31-BF6E-4E44-93FF-00959765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153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12" name="@artem_pow">
            <a:extLst xmlns:a="http://schemas.openxmlformats.org/drawingml/2006/main">
              <a:ext uri="{FF2B5EF4-FFF2-40B4-BE49-F238E27FC236}">
                <a16:creationId xmlns:a16="http://schemas.microsoft.com/office/drawing/2014/main" id="{293CF31D-5FB8-4334-9635-AA738A3E1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2361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@artem_pow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AC91E5-44AF-46A0-9F6A-ADC01DA4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5532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14" name="+7 (962) 995-19-25">
            <a:extLst xmlns:a="http://schemas.openxmlformats.org/drawingml/2006/main">
              <a:ext uri="{FF2B5EF4-FFF2-40B4-BE49-F238E27FC236}">
                <a16:creationId xmlns:a16="http://schemas.microsoft.com/office/drawing/2014/main" id="{BBB2F4B9-9F72-473E-A397-B8D488B5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42366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+7 (962) 995-19-25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90644F-C7A8-45D7-BFDD-E7A5421C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7025" y="6915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16" name="ГБПОУ Московской">
            <a:extLst xmlns:a="http://schemas.openxmlformats.org/drawingml/2006/main">
              <a:ext uri="{FF2B5EF4-FFF2-40B4-BE49-F238E27FC236}">
                <a16:creationId xmlns:a16="http://schemas.microsoft.com/office/drawing/2014/main" id="{DBC33301-8A7C-4F90-96DF-623D716A8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791325"/>
            <a:ext cx="24026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ГБПОУ Московской</a:t>
            </a:r>
          </a:p>
        </p:txBody>
      </p:sp>
      <p:sp>
        <p:nvSpPr>
          <p:cNvPr id="17" name="области «Колледж">
            <a:extLst xmlns:a="http://schemas.openxmlformats.org/drawingml/2006/main">
              <a:ext uri="{FF2B5EF4-FFF2-40B4-BE49-F238E27FC236}">
                <a16:creationId xmlns:a16="http://schemas.microsoft.com/office/drawing/2014/main" id="{63E25463-7CD9-4CE7-8308-B6BA02B4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019925"/>
            <a:ext cx="24026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области «Колледж</a:t>
            </a:r>
          </a:p>
        </p:txBody>
      </p:sp>
      <p:sp>
        <p:nvSpPr>
          <p:cNvPr id="18" name="„Коломна“»">
            <a:extLst xmlns:a="http://schemas.openxmlformats.org/drawingml/2006/main">
              <a:ext uri="{FF2B5EF4-FFF2-40B4-BE49-F238E27FC236}">
                <a16:creationId xmlns:a16="http://schemas.microsoft.com/office/drawing/2014/main" id="{BE8E4F7D-92D3-4764-A0BF-3ECA9626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7248525"/>
            <a:ext cx="24026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„Коломна“»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D18660-F248-4A33-8E26-A0B009549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905000"/>
            <a:ext cx="3238500" cy="58293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3CA11DD-F4EC-48B1-BF0B-748984AE20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557d417ac4904"/>
          <a:stretch xmlns:a="http://schemas.openxmlformats.org/drawingml/2006/main"/>
        </p:blipFill>
        <p:spPr>
          <a:xfrm xmlns:a="http://schemas.openxmlformats.org/drawingml/2006/main">
            <a:off x="6401360" y="2209800"/>
            <a:ext cx="2437279" cy="2209800"/>
          </a:xfrm>
          <a:prstGeom xmlns:a="http://schemas.openxmlformats.org/drawingml/2006/main" prst="rect">
            <a:avLst/>
          </a:prstGeom>
        </p:spPr>
      </p:pic>
      <p:sp>
        <p:nvSpPr>
          <p:cNvPr id="21" name="Артём">
            <a:extLst xmlns:a="http://schemas.openxmlformats.org/drawingml/2006/main">
              <a:ext uri="{FF2B5EF4-FFF2-40B4-BE49-F238E27FC236}">
                <a16:creationId xmlns:a16="http://schemas.microsoft.com/office/drawing/2014/main" id="{292F04E6-42BD-4531-AA18-85CEFB0B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71048"/>
            <a:ext cx="2593181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Артём</a:t>
            </a:r>
          </a:p>
        </p:txBody>
      </p:sp>
      <p:sp>
        <p:nvSpPr>
          <p:cNvPr id="22" name="Гуцаленко">
            <a:extLst xmlns:a="http://schemas.openxmlformats.org/drawingml/2006/main">
              <a:ext uri="{FF2B5EF4-FFF2-40B4-BE49-F238E27FC236}">
                <a16:creationId xmlns:a16="http://schemas.microsoft.com/office/drawing/2014/main" id="{4641F059-6EDD-428F-91B6-3E0B1ACE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856798"/>
            <a:ext cx="2593181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Гуцаленко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114E5B-F85F-4CC2-9B8A-FC473B485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86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4" name="Frontend">
            <a:extLst xmlns:a="http://schemas.openxmlformats.org/drawingml/2006/main">
              <a:ext uri="{FF2B5EF4-FFF2-40B4-BE49-F238E27FC236}">
                <a16:creationId xmlns:a16="http://schemas.microsoft.com/office/drawing/2014/main" id="{C691A97F-EDDB-4094-B8B9-36EE084B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35686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Frontend</a:t>
            </a:r>
          </a:p>
        </p:txBody>
      </p:sp>
      <p:sp>
        <p:nvSpPr>
          <p:cNvPr id="25" name="и интерфейс">
            <a:extLst xmlns:a="http://schemas.openxmlformats.org/drawingml/2006/main">
              <a:ext uri="{FF2B5EF4-FFF2-40B4-BE49-F238E27FC236}">
                <a16:creationId xmlns:a16="http://schemas.microsoft.com/office/drawing/2014/main" id="{9049F9B7-EE85-43CA-82C9-5E355504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560451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интерфейс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DFE537-D55F-4777-B52A-972B22AFF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153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7" name="@yamaysky">
            <a:extLst xmlns:a="http://schemas.openxmlformats.org/drawingml/2006/main">
              <a:ext uri="{FF2B5EF4-FFF2-40B4-BE49-F238E27FC236}">
                <a16:creationId xmlns:a16="http://schemas.microsoft.com/office/drawing/2014/main" id="{5ECE3263-9340-4DAA-946F-35569D96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02361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@yamaysky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BDC3DC-FCDA-402A-9012-F3CBF3F1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5532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29" name="+7 (991) 126-64-79">
            <a:extLst xmlns:a="http://schemas.openxmlformats.org/drawingml/2006/main">
              <a:ext uri="{FF2B5EF4-FFF2-40B4-BE49-F238E27FC236}">
                <a16:creationId xmlns:a16="http://schemas.microsoft.com/office/drawing/2014/main" id="{0BD5FCAC-14F9-49CD-B596-4F0AA8217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42366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+7 (991) 126-64-79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B41B012-CE01-4B96-880A-30D7AE165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6915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31" name="НИУ МИЭТ">
            <a:extLst xmlns:a="http://schemas.openxmlformats.org/drawingml/2006/main">
              <a:ext uri="{FF2B5EF4-FFF2-40B4-BE49-F238E27FC236}">
                <a16:creationId xmlns:a16="http://schemas.microsoft.com/office/drawing/2014/main" id="{BAC22D1A-449E-4137-A919-4AA60B518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6791325"/>
            <a:ext cx="24026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НИУ МИЭТ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7CC1F26-2D6F-4905-B39A-08D6CF10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905000"/>
            <a:ext cx="3238500" cy="582930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4A54D8-2153-41AB-AF1C-0CB3863D7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5fee7dd85b4af8"/>
          <a:stretch xmlns:a="http://schemas.openxmlformats.org/drawingml/2006/main"/>
        </p:blipFill>
        <p:spPr>
          <a:xfrm xmlns:a="http://schemas.openxmlformats.org/drawingml/2006/main">
            <a:off x="9867900" y="2219031"/>
            <a:ext cx="2438400" cy="2191337"/>
          </a:xfrm>
          <a:prstGeom xmlns:a="http://schemas.openxmlformats.org/drawingml/2006/main" prst="rect">
            <a:avLst/>
          </a:prstGeom>
        </p:spPr>
      </p:pic>
      <p:sp>
        <p:nvSpPr>
          <p:cNvPr id="34" name="Матвей">
            <a:extLst xmlns:a="http://schemas.openxmlformats.org/drawingml/2006/main">
              <a:ext uri="{FF2B5EF4-FFF2-40B4-BE49-F238E27FC236}">
                <a16:creationId xmlns:a16="http://schemas.microsoft.com/office/drawing/2014/main" id="{D3668317-3BB5-4C43-B7B5-3D3ED4CD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571048"/>
            <a:ext cx="2593181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Матвей</a:t>
            </a:r>
          </a:p>
        </p:txBody>
      </p:sp>
      <p:sp>
        <p:nvSpPr>
          <p:cNvPr id="35" name="Сатин">
            <a:extLst xmlns:a="http://schemas.openxmlformats.org/drawingml/2006/main">
              <a:ext uri="{FF2B5EF4-FFF2-40B4-BE49-F238E27FC236}">
                <a16:creationId xmlns:a16="http://schemas.microsoft.com/office/drawing/2014/main" id="{D00DF2A4-B0B0-4874-A32A-2CAF852F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856798"/>
            <a:ext cx="2593181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Сатин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AC6823-4435-41AD-88CD-20BA8DA0A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54864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37" name="Продукт">
            <a:extLst xmlns:a="http://schemas.openxmlformats.org/drawingml/2006/main">
              <a:ext uri="{FF2B5EF4-FFF2-40B4-BE49-F238E27FC236}">
                <a16:creationId xmlns:a16="http://schemas.microsoft.com/office/drawing/2014/main" id="{05C6E05C-344C-4848-A8AC-FA3370639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35686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Продукт</a:t>
            </a:r>
          </a:p>
        </p:txBody>
      </p:sp>
      <p:sp>
        <p:nvSpPr>
          <p:cNvPr id="38" name="и UX/UI-дизайн">
            <a:extLst xmlns:a="http://schemas.openxmlformats.org/drawingml/2006/main">
              <a:ext uri="{FF2B5EF4-FFF2-40B4-BE49-F238E27FC236}">
                <a16:creationId xmlns:a16="http://schemas.microsoft.com/office/drawing/2014/main" id="{957752BF-6FBA-467B-BD5A-D1A165399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60451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 UX/UI-дизайн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EB550C2-3A7D-4922-A348-15393B6A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153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40" name="@Bl00d1e">
            <a:extLst xmlns:a="http://schemas.openxmlformats.org/drawingml/2006/main">
              <a:ext uri="{FF2B5EF4-FFF2-40B4-BE49-F238E27FC236}">
                <a16:creationId xmlns:a16="http://schemas.microsoft.com/office/drawing/2014/main" id="{8CB40DD6-357F-43DD-8402-E3A4856B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02361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@Bl00d1e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65D038E-70DF-470F-A2CF-E5B00B44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5532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42" name="+7 (977) 485-92-02">
            <a:extLst xmlns:a="http://schemas.openxmlformats.org/drawingml/2006/main">
              <a:ext uri="{FF2B5EF4-FFF2-40B4-BE49-F238E27FC236}">
                <a16:creationId xmlns:a16="http://schemas.microsoft.com/office/drawing/2014/main" id="{280B48B5-1CB4-4E05-A0BE-16543F341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423660"/>
            <a:ext cx="2402681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6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+7 (977) 485-92-02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083493E-CAAD-4F79-8C43-61250E6EE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01225" y="69151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44" name="РТУ МИРЭА">
            <a:extLst xmlns:a="http://schemas.openxmlformats.org/drawingml/2006/main">
              <a:ext uri="{FF2B5EF4-FFF2-40B4-BE49-F238E27FC236}">
                <a16:creationId xmlns:a16="http://schemas.microsoft.com/office/drawing/2014/main" id="{2693BF09-8035-4473-9AB6-2D883428D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791325"/>
            <a:ext cx="2402681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РТУ МИРЭА</a:t>
            </a:r>
          </a:p>
        </p:txBody>
      </p:sp>
      <p:sp>
        <p:nvSpPr>
          <p:cNvPr id="45" name="3">
            <a:extLst xmlns:a="http://schemas.openxmlformats.org/drawingml/2006/main">
              <a:ext uri="{FF2B5EF4-FFF2-40B4-BE49-F238E27FC236}">
                <a16:creationId xmlns:a16="http://schemas.microsoft.com/office/drawing/2014/main" id="{CC92188E-538F-46D7-866C-232766A40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8001000"/>
            <a:ext cx="3357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6810775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1F9B72F-84C5-4089-8EE0-74A621C90DE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ad71659d54960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BEA854-17C2-400A-9EA6-4EFA0D6C3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9575"/>
            <a:ext cx="4526718" cy="771525"/>
          </a:xfrm>
          <a:prstGeom xmlns:a="http://schemas.openxmlformats.org/drawingml/2006/main" prst="roundRect">
            <a:avLst>
              <a:gd name="adj" fmla="val 19753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3" name="КОМАНДА «ATRIUNE»">
            <a:extLst xmlns:a="http://schemas.openxmlformats.org/drawingml/2006/main">
              <a:ext uri="{FF2B5EF4-FFF2-40B4-BE49-F238E27FC236}">
                <a16:creationId xmlns:a16="http://schemas.microsoft.com/office/drawing/2014/main" id="{986F0E62-4AEF-4819-8A93-9177B4C06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"/>
            <a:ext cx="3862349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«ATRIUNE»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7FC28C-C86C-4298-9CD9-22121CD8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381125"/>
            <a:ext cx="14049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F0053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91CC74-6316-447C-BC62-1A4CD60FE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429000"/>
            <a:ext cx="14049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F0053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22D777-20A4-4DF2-B492-32ADAD88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514975"/>
            <a:ext cx="14049375" cy="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FF0053"/>
            </a:solidFill>
          </a:ln>
        </p:spPr>
      </p:sp>
      <p:sp>
        <p:nvSpPr>
          <p:cNvPr id="7" name="Краткая история команды:">
            <a:extLst xmlns:a="http://schemas.openxmlformats.org/drawingml/2006/main">
              <a:ext uri="{FF2B5EF4-FFF2-40B4-BE49-F238E27FC236}">
                <a16:creationId xmlns:a16="http://schemas.microsoft.com/office/drawing/2014/main" id="{32A3F6FB-69BE-490F-A322-EA5472350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1636395"/>
            <a:ext cx="1362313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Краткая история команды:</a:t>
            </a:r>
          </a:p>
        </p:txBody>
      </p:sp>
      <p:sp>
        <p:nvSpPr>
          <p:cNvPr id="8" name="Познакомились ещё в школе. Вместе делали заказные проекты и запускали собственны">
            <a:extLst xmlns:a="http://schemas.openxmlformats.org/drawingml/2006/main">
              <a:ext uri="{FF2B5EF4-FFF2-40B4-BE49-F238E27FC236}">
                <a16:creationId xmlns:a16="http://schemas.microsoft.com/office/drawing/2014/main" id="{93E81916-DDF6-4574-B959-70B27EA6D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045970"/>
            <a:ext cx="1367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Познакомились ещё в школе. Вместе делали заказные проекты и запускали собственные веб-сервисы.</a:t>
            </a:r>
          </a:p>
        </p:txBody>
      </p:sp>
      <p:sp>
        <p:nvSpPr>
          <p:cNvPr id="9" name="В Green Atlas объединили алгоритмы, разработку интерфейса и продуктовый дизайн.">
            <a:extLst xmlns:a="http://schemas.openxmlformats.org/drawingml/2006/main">
              <a:ext uri="{FF2B5EF4-FFF2-40B4-BE49-F238E27FC236}">
                <a16:creationId xmlns:a16="http://schemas.microsoft.com/office/drawing/2014/main" id="{675485A5-BE47-4285-8EA1-B0732A9A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407920"/>
            <a:ext cx="1367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 Green Atlas объединили алгоритмы, разработку интерфейса и продуктовый дизайн.</a:t>
            </a:r>
          </a:p>
        </p:txBody>
      </p:sp>
      <p:sp>
        <p:nvSpPr>
          <p:cNvPr id="10" name="01">
            <a:extLst xmlns:a="http://schemas.openxmlformats.org/drawingml/2006/main">
              <a:ext uri="{FF2B5EF4-FFF2-40B4-BE49-F238E27FC236}">
                <a16:creationId xmlns:a16="http://schemas.microsoft.com/office/drawing/2014/main" id="{8793ABDE-3B07-49A4-A496-3788FEE8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1639253"/>
            <a:ext cx="383381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1" name="Почему вы выбрали именно эту задачу">
            <a:extLst xmlns:a="http://schemas.openxmlformats.org/drawingml/2006/main">
              <a:ext uri="{FF2B5EF4-FFF2-40B4-BE49-F238E27FC236}">
                <a16:creationId xmlns:a16="http://schemas.microsoft.com/office/drawing/2014/main" id="{77D991C4-D174-4BA7-8670-349EEC57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665220"/>
            <a:ext cx="13289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Почему вы выбрали именно эту задачу</a:t>
            </a:r>
          </a:p>
        </p:txBody>
      </p:sp>
      <p:sp>
        <p:nvSpPr>
          <p:cNvPr id="12" name="из предложенных на хакатоне?">
            <a:extLst xmlns:a="http://schemas.openxmlformats.org/drawingml/2006/main">
              <a:ext uri="{FF2B5EF4-FFF2-40B4-BE49-F238E27FC236}">
                <a16:creationId xmlns:a16="http://schemas.microsoft.com/office/drawing/2014/main" id="{4E651DFB-83C4-47AB-8BF0-64043F99B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3931920"/>
            <a:ext cx="13289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из предложенных на хакатоне?</a:t>
            </a:r>
          </a:p>
        </p:txBody>
      </p:sp>
      <p:sp>
        <p:nvSpPr>
          <p:cNvPr id="13" name="За размещением дерева в городе стоят инженерные сети, нормативные отступы и слож">
            <a:extLst xmlns:a="http://schemas.openxmlformats.org/drawingml/2006/main">
              <a:ext uri="{FF2B5EF4-FFF2-40B4-BE49-F238E27FC236}">
                <a16:creationId xmlns:a16="http://schemas.microsoft.com/office/drawing/2014/main" id="{8312B182-8474-4649-87F8-C73FB6A5D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322445"/>
            <a:ext cx="1367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 размещением дерева в городе стоят инженерные сети, нормативные отступы и сложные чертежи. Нас</a:t>
            </a:r>
          </a:p>
        </p:txBody>
      </p:sp>
      <p:sp>
        <p:nvSpPr>
          <p:cNvPr id="14" name="заинтересовала возможность собрать эти ограничения в понятный рабочий инструмент">
            <a:extLst xmlns:a="http://schemas.openxmlformats.org/drawingml/2006/main">
              <a:ext uri="{FF2B5EF4-FFF2-40B4-BE49-F238E27FC236}">
                <a16:creationId xmlns:a16="http://schemas.microsoft.com/office/drawing/2014/main" id="{12538C5C-C4A9-4199-8756-73353F7FD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4684395"/>
            <a:ext cx="1367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заинтересовала возможность собрать эти ограничения в понятный рабочий инструмент проектировщика.</a:t>
            </a:r>
          </a:p>
        </p:txBody>
      </p:sp>
      <p:sp>
        <p:nvSpPr>
          <p:cNvPr id="15" name="02">
            <a:extLst xmlns:a="http://schemas.openxmlformats.org/drawingml/2006/main">
              <a:ext uri="{FF2B5EF4-FFF2-40B4-BE49-F238E27FC236}">
                <a16:creationId xmlns:a16="http://schemas.microsoft.com/office/drawing/2014/main" id="{09A01C96-D959-4E0B-BCF0-6E31540E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3668078"/>
            <a:ext cx="383381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6" name="С какими основными сложностями или вызовами">
            <a:extLst xmlns:a="http://schemas.openxmlformats.org/drawingml/2006/main">
              <a:ext uri="{FF2B5EF4-FFF2-40B4-BE49-F238E27FC236}">
                <a16:creationId xmlns:a16="http://schemas.microsoft.com/office/drawing/2014/main" id="{2DD03E93-AE9E-4A60-8AE9-0CF63F75C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5770245"/>
            <a:ext cx="133373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 какими основными сложностями или вызовами</a:t>
            </a:r>
          </a:p>
        </p:txBody>
      </p:sp>
      <p:sp>
        <p:nvSpPr>
          <p:cNvPr id="17" name="вы столкнулись и как их преодолели?">
            <a:extLst xmlns:a="http://schemas.openxmlformats.org/drawingml/2006/main">
              <a:ext uri="{FF2B5EF4-FFF2-40B4-BE49-F238E27FC236}">
                <a16:creationId xmlns:a16="http://schemas.microsoft.com/office/drawing/2014/main" id="{61CFEED4-354E-4F02-B6CD-5430CBA86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036945"/>
            <a:ext cx="133373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вы столкнулись и как их преодолели?</a:t>
            </a:r>
          </a:p>
        </p:txBody>
      </p:sp>
      <p:sp>
        <p:nvSpPr>
          <p:cNvPr id="18" name="Реальные CAD-файлы содержат внешние ссылки, повреждённые контуры и пропуски объе">
            <a:extLst xmlns:a="http://schemas.openxmlformats.org/drawingml/2006/main">
              <a:ext uri="{FF2B5EF4-FFF2-40B4-BE49-F238E27FC236}">
                <a16:creationId xmlns:a16="http://schemas.microsoft.com/office/drawing/2014/main" id="{9E3CDD15-6685-4CD9-A2ED-66D1A9B2C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465570"/>
            <a:ext cx="1367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Реальные CAD-файлы содержат внешние ссылки, повреждённые контуры и пропуски объектов. Чтение</a:t>
            </a:r>
          </a:p>
        </p:txBody>
      </p:sp>
      <p:sp>
        <p:nvSpPr>
          <p:cNvPr id="19" name="и восстановление геометрии передали AutoCAD. Посадки рассчитываем локально по по">
            <a:extLst xmlns:a="http://schemas.openxmlformats.org/drawingml/2006/main">
              <a:ext uri="{FF2B5EF4-FFF2-40B4-BE49-F238E27FC236}">
                <a16:creationId xmlns:a16="http://schemas.microsoft.com/office/drawing/2014/main" id="{8B56470C-F383-4A15-AC75-D55C1C5D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827520"/>
            <a:ext cx="1367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 восстановление геометрии передали AutoCAD. Посадки рассчитываем локально по подготовленному снимку.</a:t>
            </a:r>
          </a:p>
        </p:txBody>
      </p:sp>
      <p:sp>
        <p:nvSpPr>
          <p:cNvPr id="20" name="Пропуски и неясные данные сохраняем как адресные замечания.">
            <a:extLst xmlns:a="http://schemas.openxmlformats.org/drawingml/2006/main">
              <a:ext uri="{FF2B5EF4-FFF2-40B4-BE49-F238E27FC236}">
                <a16:creationId xmlns:a16="http://schemas.microsoft.com/office/drawing/2014/main" id="{94FDDFCF-E338-4EE9-9E15-A331D4D2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7189470"/>
            <a:ext cx="13670756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Пропуски и неясные данные сохраняем как адресные замечания.</a:t>
            </a:r>
          </a:p>
        </p:txBody>
      </p:sp>
      <p:sp>
        <p:nvSpPr>
          <p:cNvPr id="21" name="03">
            <a:extLst xmlns:a="http://schemas.openxmlformats.org/drawingml/2006/main">
              <a:ext uri="{FF2B5EF4-FFF2-40B4-BE49-F238E27FC236}">
                <a16:creationId xmlns:a16="http://schemas.microsoft.com/office/drawing/2014/main" id="{F0AA72F7-EA8D-4C41-96A6-B29FDDD49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5773103"/>
            <a:ext cx="383381" cy="3286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2" name="4">
            <a:extLst xmlns:a="http://schemas.openxmlformats.org/drawingml/2006/main">
              <a:ext uri="{FF2B5EF4-FFF2-40B4-BE49-F238E27FC236}">
                <a16:creationId xmlns:a16="http://schemas.microsoft.com/office/drawing/2014/main" id="{09FDC909-D785-4397-B8E9-CD8B687E7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8001000"/>
            <a:ext cx="3357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008522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054A912-95A8-4C5B-8C89-FFFCD23A37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f0dc84d51041fa"/>
          <a:stretch xmlns:a="http://schemas.openxmlformats.org/drawingml/2006/main"/>
        </p:blipFill>
        <p:spPr>
          <a:xfrm xmlns:a="http://schemas.openxmlformats.org/drawingml/2006/main">
            <a:off x="0" y="0"/>
            <a:ext cx="15240000" cy="85725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CFB825-BB9B-45B6-BAB2-5CBD1FA6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9575"/>
            <a:ext cx="4526718" cy="771525"/>
          </a:xfrm>
          <a:prstGeom xmlns:a="http://schemas.openxmlformats.org/drawingml/2006/main" prst="roundRect">
            <a:avLst>
              <a:gd name="adj" fmla="val 19753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</a:ln>
        </p:spPr>
      </p:sp>
      <p:sp>
        <p:nvSpPr>
          <p:cNvPr id="3" name="КОМАНДА «ATRIUNE»">
            <a:extLst xmlns:a="http://schemas.openxmlformats.org/drawingml/2006/main">
              <a:ext uri="{FF2B5EF4-FFF2-40B4-BE49-F238E27FC236}">
                <a16:creationId xmlns:a16="http://schemas.microsoft.com/office/drawing/2014/main" id="{1386D5C9-4B22-4B01-8144-0217419C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69595"/>
            <a:ext cx="3862349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«ATRIUNE»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E30AED-D01C-473F-B59D-0542FB2D5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514475"/>
            <a:ext cx="6800850" cy="6238875"/>
          </a:xfrm>
          <a:prstGeom xmlns:a="http://schemas.openxmlformats.org/drawingml/2006/main" prst="roundRect">
            <a:avLst>
              <a:gd name="adj" fmla="val 4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BD9D2D-F6F4-4543-BA31-423E35BC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1514475"/>
            <a:ext cx="6800850" cy="6238875"/>
          </a:xfrm>
          <a:prstGeom xmlns:a="http://schemas.openxmlformats.org/drawingml/2006/main" prst="roundRect">
            <a:avLst>
              <a:gd name="adj" fmla="val 42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Техническая суть решения">
            <a:extLst xmlns:a="http://schemas.openxmlformats.org/drawingml/2006/main">
              <a:ext uri="{FF2B5EF4-FFF2-40B4-BE49-F238E27FC236}">
                <a16:creationId xmlns:a16="http://schemas.microsoft.com/office/drawing/2014/main" id="{E6DC9B65-8A6B-4A20-B2A5-CAE584C53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1885950"/>
            <a:ext cx="605075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Техническая суть решения</a:t>
            </a:r>
          </a:p>
        </p:txBody>
      </p:sp>
      <p:sp>
        <p:nvSpPr>
          <p:cNvPr id="7" name="Маркетинговая суть решения">
            <a:extLst xmlns:a="http://schemas.openxmlformats.org/drawingml/2006/main">
              <a:ext uri="{FF2B5EF4-FFF2-40B4-BE49-F238E27FC236}">
                <a16:creationId xmlns:a16="http://schemas.microsoft.com/office/drawing/2014/main" id="{3041B7EE-CC98-404B-A908-369C13203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885950"/>
            <a:ext cx="6050756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Маркетинговая суть решения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8245F9-1590-4684-90AA-AE95AF041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25527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1D22"/>
          </a:solidFill>
          <a:ln xmlns:a="http://schemas.openxmlformats.org/drawingml/2006/main" w="0">
            <a:noFill/>
          </a:ln>
        </p:spPr>
      </p:sp>
      <p:sp>
        <p:nvSpPr>
          <p:cNvPr id="9" name="Плагин AutoCAD читает открытый DWG/DXF">
            <a:extLst xmlns:a="http://schemas.openxmlformats.org/drawingml/2006/main">
              <a:ext uri="{FF2B5EF4-FFF2-40B4-BE49-F238E27FC236}">
                <a16:creationId xmlns:a16="http://schemas.microsoft.com/office/drawing/2014/main" id="{87F0A9DD-5138-4BC0-861B-273AF5988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17445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Плагин AutoCAD читает открытый DWG/DXF</a:t>
            </a:r>
          </a:p>
        </p:txBody>
      </p:sp>
      <p:sp>
        <p:nvSpPr>
          <p:cNvPr id="10" name="и подготавливает геометрию. Расчёт посадок">
            <a:extLst xmlns:a="http://schemas.openxmlformats.org/drawingml/2006/main">
              <a:ext uri="{FF2B5EF4-FFF2-40B4-BE49-F238E27FC236}">
                <a16:creationId xmlns:a16="http://schemas.microsoft.com/office/drawing/2014/main" id="{49024470-9324-4328-AD02-51E100219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60333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 подготавливает геометрию. Расчёт посадок</a:t>
            </a:r>
          </a:p>
        </p:txBody>
      </p:sp>
      <p:sp>
        <p:nvSpPr>
          <p:cNvPr id="11" name="и хранение проекта работают локально.">
            <a:extLst xmlns:a="http://schemas.openxmlformats.org/drawingml/2006/main">
              <a:ext uri="{FF2B5EF4-FFF2-40B4-BE49-F238E27FC236}">
                <a16:creationId xmlns:a16="http://schemas.microsoft.com/office/drawing/2014/main" id="{F8D05959-3712-485C-AC89-79CD3CF9E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903220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 хранение проекта работают локально.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F0233F-05EC-463E-84C2-566803D55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3424238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1D22"/>
          </a:solidFill>
          <a:ln xmlns:a="http://schemas.openxmlformats.org/drawingml/2006/main" w="0">
            <a:noFill/>
          </a:ln>
        </p:spPr>
      </p:sp>
      <p:sp>
        <p:nvSpPr>
          <p:cNvPr id="13" name="Ручная и автоматическая посадка используют">
            <a:extLst xmlns:a="http://schemas.openxmlformats.org/drawingml/2006/main">
              <a:ext uri="{FF2B5EF4-FFF2-40B4-BE49-F238E27FC236}">
                <a16:creationId xmlns:a16="http://schemas.microsoft.com/office/drawing/2014/main" id="{AAB33551-BDB8-4419-B8DA-4FB32B255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288983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Ручная и автоматическая посадка используют</a:t>
            </a:r>
          </a:p>
        </p:txBody>
      </p:sp>
      <p:sp>
        <p:nvSpPr>
          <p:cNvPr id="14" name="одну геометрию и правила. Проверяем отступы">
            <a:extLst xmlns:a="http://schemas.openxmlformats.org/drawingml/2006/main">
              <a:ext uri="{FF2B5EF4-FFF2-40B4-BE49-F238E27FC236}">
                <a16:creationId xmlns:a16="http://schemas.microsoft.com/office/drawing/2014/main" id="{5D92CF27-3A5F-4E78-BAB9-C931F90F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531870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одну геометрию и правила. Проверяем отступы</a:t>
            </a:r>
          </a:p>
        </p:txBody>
      </p:sp>
      <p:sp>
        <p:nvSpPr>
          <p:cNvPr id="15" name="по нормам, рост крон и корней, расстояния">
            <a:extLst xmlns:a="http://schemas.openxmlformats.org/drawingml/2006/main">
              <a:ext uri="{FF2B5EF4-FFF2-40B4-BE49-F238E27FC236}">
                <a16:creationId xmlns:a16="http://schemas.microsoft.com/office/drawing/2014/main" id="{71CDF3BB-98CA-4992-BFD7-E5211FBA2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3774758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 нормам, рост крон и корней, расстояния</a:t>
            </a:r>
          </a:p>
        </p:txBody>
      </p:sp>
      <p:sp>
        <p:nvSpPr>
          <p:cNvPr id="16" name="между растениями.">
            <a:extLst xmlns:a="http://schemas.openxmlformats.org/drawingml/2006/main">
              <a:ext uri="{FF2B5EF4-FFF2-40B4-BE49-F238E27FC236}">
                <a16:creationId xmlns:a16="http://schemas.microsoft.com/office/drawing/2014/main" id="{66A867DA-F056-4D11-9806-63284BC1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017645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между растениями.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6045CC-EF4E-4072-9894-6E814F65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" y="453866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1D22"/>
          </a:solidFill>
          <a:ln xmlns:a="http://schemas.openxmlformats.org/drawingml/2006/main" w="0">
            <a:noFill/>
          </a:ln>
        </p:spPr>
      </p:sp>
      <p:sp>
        <p:nvSpPr>
          <p:cNvPr id="18" name="Для замечания показываем объект, расстояние">
            <a:extLst xmlns:a="http://schemas.openxmlformats.org/drawingml/2006/main">
              <a:ext uri="{FF2B5EF4-FFF2-40B4-BE49-F238E27FC236}">
                <a16:creationId xmlns:a16="http://schemas.microsoft.com/office/drawing/2014/main" id="{17F3E715-0994-47AA-83C2-9738B46A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403408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Для замечания показываем объект, расстояние</a:t>
            </a:r>
          </a:p>
        </p:txBody>
      </p:sp>
      <p:sp>
        <p:nvSpPr>
          <p:cNvPr id="19" name="и основание ограничения. Выпускаем">
            <a:extLst xmlns:a="http://schemas.openxmlformats.org/drawingml/2006/main">
              <a:ext uri="{FF2B5EF4-FFF2-40B4-BE49-F238E27FC236}">
                <a16:creationId xmlns:a16="http://schemas.microsoft.com/office/drawing/2014/main" id="{9E8B19D4-C9CF-4E02-B240-3723940F2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646295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 основание ограничения. Выпускаем</a:t>
            </a:r>
          </a:p>
        </p:txBody>
      </p:sp>
      <p:sp>
        <p:nvSpPr>
          <p:cNvPr id="20" name="отдельный DWG, доступные подосновы">
            <a:extLst xmlns:a="http://schemas.openxmlformats.org/drawingml/2006/main">
              <a:ext uri="{FF2B5EF4-FFF2-40B4-BE49-F238E27FC236}">
                <a16:creationId xmlns:a16="http://schemas.microsoft.com/office/drawing/2014/main" id="{D2F29BD0-562D-41D7-8841-B7716520C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4889183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отдельный DWG, доступные подосновы</a:t>
            </a:r>
          </a:p>
        </p:txBody>
      </p:sp>
      <p:sp>
        <p:nvSpPr>
          <p:cNvPr id="21" name="и ведомость растений CSV.">
            <a:extLst xmlns:a="http://schemas.openxmlformats.org/drawingml/2006/main">
              <a:ext uri="{FF2B5EF4-FFF2-40B4-BE49-F238E27FC236}">
                <a16:creationId xmlns:a16="http://schemas.microsoft.com/office/drawing/2014/main" id="{C60066C2-7163-4DD0-BBDA-4419A20E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5132070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 ведомость растений CSV.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3411DEB-BD5C-4E79-8DE1-50CF0C05A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5527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1D22"/>
          </a:solidFill>
          <a:ln xmlns:a="http://schemas.openxmlformats.org/drawingml/2006/main" w="0">
            <a:noFill/>
          </a:ln>
        </p:spPr>
      </p:sp>
      <p:sp>
        <p:nvSpPr>
          <p:cNvPr id="23" name="Green Atlas помогает проектным бюро,">
            <a:extLst xmlns:a="http://schemas.openxmlformats.org/drawingml/2006/main">
              <a:ext uri="{FF2B5EF4-FFF2-40B4-BE49-F238E27FC236}">
                <a16:creationId xmlns:a16="http://schemas.microsoft.com/office/drawing/2014/main" id="{710B319F-4BA0-41FE-A3F4-D05E6C0D4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417445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Green Atlas помогает проектным бюро,</a:t>
            </a:r>
          </a:p>
        </p:txBody>
      </p:sp>
      <p:sp>
        <p:nvSpPr>
          <p:cNvPr id="24" name="городским службам и организациям">
            <a:extLst xmlns:a="http://schemas.openxmlformats.org/drawingml/2006/main">
              <a:ext uri="{FF2B5EF4-FFF2-40B4-BE49-F238E27FC236}">
                <a16:creationId xmlns:a16="http://schemas.microsoft.com/office/drawing/2014/main" id="{81347090-B2C2-4C70-B631-FB9B89A12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0333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городским службам и организациям</a:t>
            </a:r>
          </a:p>
        </p:txBody>
      </p:sp>
      <p:sp>
        <p:nvSpPr>
          <p:cNvPr id="25" name="благоустройства подобрать места для деревьев">
            <a:extLst xmlns:a="http://schemas.openxmlformats.org/drawingml/2006/main">
              <a:ext uri="{FF2B5EF4-FFF2-40B4-BE49-F238E27FC236}">
                <a16:creationId xmlns:a16="http://schemas.microsoft.com/office/drawing/2014/main" id="{044EC857-886B-485B-B30E-6195A00C0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903220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благоустройства подобрать места для деревьев</a:t>
            </a:r>
          </a:p>
        </p:txBody>
      </p:sp>
      <p:sp>
        <p:nvSpPr>
          <p:cNvPr id="26" name="и кустарников.">
            <a:extLst xmlns:a="http://schemas.openxmlformats.org/drawingml/2006/main">
              <a:ext uri="{FF2B5EF4-FFF2-40B4-BE49-F238E27FC236}">
                <a16:creationId xmlns:a16="http://schemas.microsoft.com/office/drawing/2014/main" id="{FE491C8E-8694-4CC4-9302-A36F3B389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6108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 кустарников.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3E2C82-1AA3-4110-AF80-1CAAB8BAC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6671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1D22"/>
          </a:solidFill>
          <a:ln xmlns:a="http://schemas.openxmlformats.org/drawingml/2006/main" w="0">
            <a:noFill/>
          </a:ln>
        </p:spPr>
      </p:sp>
      <p:sp>
        <p:nvSpPr>
          <p:cNvPr id="28" name="Проектировщик видит ограничения на карте">
            <a:extLst xmlns:a="http://schemas.openxmlformats.org/drawingml/2006/main">
              <a:ext uri="{FF2B5EF4-FFF2-40B4-BE49-F238E27FC236}">
                <a16:creationId xmlns:a16="http://schemas.microsoft.com/office/drawing/2014/main" id="{7BA03884-DF40-4FA5-A9BA-B3D192A99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31870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Проектировщик видит ограничения на карте</a:t>
            </a:r>
          </a:p>
        </p:txBody>
      </p:sp>
      <p:sp>
        <p:nvSpPr>
          <p:cNvPr id="29" name="и может изменить предложенный вариант до">
            <a:extLst xmlns:a="http://schemas.openxmlformats.org/drawingml/2006/main">
              <a:ext uri="{FF2B5EF4-FFF2-40B4-BE49-F238E27FC236}">
                <a16:creationId xmlns:a16="http://schemas.microsoft.com/office/drawing/2014/main" id="{46B3C449-882F-4E4C-B370-50BC3122A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74758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 может изменить предложенный вариант до</a:t>
            </a:r>
          </a:p>
        </p:txBody>
      </p:sp>
      <p:sp>
        <p:nvSpPr>
          <p:cNvPr id="30" name="сохранения плана.">
            <a:extLst xmlns:a="http://schemas.openxmlformats.org/drawingml/2006/main">
              <a:ext uri="{FF2B5EF4-FFF2-40B4-BE49-F238E27FC236}">
                <a16:creationId xmlns:a16="http://schemas.microsoft.com/office/drawing/2014/main" id="{EB206E75-8573-4DF2-90D5-BD0891F5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017645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сохранения плана.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B4906D5-625E-4EB5-A21C-1BBB8ECC6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538663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1D22"/>
          </a:solidFill>
          <a:ln xmlns:a="http://schemas.openxmlformats.org/drawingml/2006/main" w="0">
            <a:noFill/>
          </a:ln>
        </p:spPr>
      </p:sp>
      <p:sp>
        <p:nvSpPr>
          <p:cNvPr id="32" name="Цель: сократить ручной подбор мест">
            <a:extLst xmlns:a="http://schemas.openxmlformats.org/drawingml/2006/main">
              <a:ext uri="{FF2B5EF4-FFF2-40B4-BE49-F238E27FC236}">
                <a16:creationId xmlns:a16="http://schemas.microsoft.com/office/drawing/2014/main" id="{9C1DB6D2-865C-4D55-9BDF-AE50BC4E5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403408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Цель: сократить ручной подбор мест</a:t>
            </a:r>
          </a:p>
        </p:txBody>
      </p:sp>
      <p:sp>
        <p:nvSpPr>
          <p:cNvPr id="33" name="и повторные проверки при изменении">
            <a:extLst xmlns:a="http://schemas.openxmlformats.org/drawingml/2006/main">
              <a:ext uri="{FF2B5EF4-FFF2-40B4-BE49-F238E27FC236}">
                <a16:creationId xmlns:a16="http://schemas.microsoft.com/office/drawing/2014/main" id="{899B2603-9539-4DCB-8F0B-F2F8B98A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646295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 повторные проверки при изменении</a:t>
            </a:r>
          </a:p>
        </p:txBody>
      </p:sp>
      <p:sp>
        <p:nvSpPr>
          <p:cNvPr id="34" name="задания.">
            <a:extLst xmlns:a="http://schemas.openxmlformats.org/drawingml/2006/main">
              <a:ext uri="{FF2B5EF4-FFF2-40B4-BE49-F238E27FC236}">
                <a16:creationId xmlns:a16="http://schemas.microsoft.com/office/drawing/2014/main" id="{E697B897-A849-4E53-97E6-AA0D573D4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889183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задания.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E5F1B52-EBBF-4932-9924-801EFD61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54102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C1D22"/>
          </a:solidFill>
          <a:ln xmlns:a="http://schemas.openxmlformats.org/drawingml/2006/main" w="0">
            <a:noFill/>
          </a:ln>
        </p:spPr>
      </p:sp>
      <p:sp>
        <p:nvSpPr>
          <p:cNvPr id="36" name="Следующий шаг: пилот с проектировщиками на">
            <a:extLst xmlns:a="http://schemas.openxmlformats.org/drawingml/2006/main">
              <a:ext uri="{FF2B5EF4-FFF2-40B4-BE49-F238E27FC236}">
                <a16:creationId xmlns:a16="http://schemas.microsoft.com/office/drawing/2014/main" id="{CDAE870A-1557-4EDA-BFB8-8DB88A192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274945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Следующий шаг: пилот с проектировщиками на</a:t>
            </a:r>
          </a:p>
        </p:txBody>
      </p:sp>
      <p:sp>
        <p:nvSpPr>
          <p:cNvPr id="37" name="реальных чертежах. Сравним время подготовки">
            <a:extLst xmlns:a="http://schemas.openxmlformats.org/drawingml/2006/main">
              <a:ext uri="{FF2B5EF4-FFF2-40B4-BE49-F238E27FC236}">
                <a16:creationId xmlns:a16="http://schemas.microsoft.com/office/drawing/2014/main" id="{B1C7EFA5-C13F-4326-BDF2-133DBE2B7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517833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реальных чертежах. Сравним время подготовки</a:t>
            </a:r>
          </a:p>
        </p:txBody>
      </p:sp>
      <p:sp>
        <p:nvSpPr>
          <p:cNvPr id="38" name="и число правок. По результатам расширим">
            <a:extLst xmlns:a="http://schemas.openxmlformats.org/drawingml/2006/main">
              <a:ext uri="{FF2B5EF4-FFF2-40B4-BE49-F238E27FC236}">
                <a16:creationId xmlns:a16="http://schemas.microsoft.com/office/drawing/2014/main" id="{8087BAE2-B725-4963-A95A-E665C25C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760720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 число правок. По результатам расширим</a:t>
            </a:r>
          </a:p>
        </p:txBody>
      </p:sp>
      <p:sp>
        <p:nvSpPr>
          <p:cNvPr id="39" name="нормативные профили, поддержку подоснов">
            <a:extLst xmlns:a="http://schemas.openxmlformats.org/drawingml/2006/main">
              <a:ext uri="{FF2B5EF4-FFF2-40B4-BE49-F238E27FC236}">
                <a16:creationId xmlns:a16="http://schemas.microsoft.com/office/drawing/2014/main" id="{E2FC59DF-CB2A-450F-9BE0-11E23DD1D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003608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нормативные профили, поддержку подоснов</a:t>
            </a:r>
          </a:p>
        </p:txBody>
      </p:sp>
      <p:sp>
        <p:nvSpPr>
          <p:cNvPr id="40" name="и сценарии подбора.">
            <a:extLst xmlns:a="http://schemas.openxmlformats.org/drawingml/2006/main">
              <a:ext uri="{FF2B5EF4-FFF2-40B4-BE49-F238E27FC236}">
                <a16:creationId xmlns:a16="http://schemas.microsoft.com/office/drawing/2014/main" id="{E010E4F4-0475-4D07-9035-E821E26FE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6246495"/>
            <a:ext cx="5831681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 сценарии подбора.</a:t>
            </a:r>
          </a:p>
        </p:txBody>
      </p:sp>
      <p:sp>
        <p:nvSpPr>
          <p:cNvPr id="41" name="5">
            <a:extLst xmlns:a="http://schemas.openxmlformats.org/drawingml/2006/main">
              <a:ext uri="{FF2B5EF4-FFF2-40B4-BE49-F238E27FC236}">
                <a16:creationId xmlns:a16="http://schemas.microsoft.com/office/drawing/2014/main" id="{6A1B8C04-D808-4B53-94BB-8B71280F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54200" y="8001000"/>
            <a:ext cx="335756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  <a:lvl1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1pPr>
            <a:lvl2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2pPr>
            <a:lvl3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3pPr>
            <a:lvl4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4pPr>
            <a:lvl5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5pPr>
            <a:lvl6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6pPr>
            <a:lvl7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7pPr>
            <a:lvl8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8pPr>
            <a:lvl9pPr algn="l"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lvl9pPr>
          </a:lstStyle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66343262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2026-10-20T10:45:24.2290000Z</dcterms:created>
  <dcterms:modified xsi:type="dcterms:W3CDTF">2026-10-20T10:45:24.2290000Z</dcterms:modified>
</coreProperties>
</file>